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1"/>
  </p:notesMasterIdLst>
  <p:sldIdLst>
    <p:sldId id="261" r:id="rId2"/>
    <p:sldId id="262" r:id="rId3"/>
    <p:sldId id="299" r:id="rId4"/>
    <p:sldId id="300" r:id="rId5"/>
    <p:sldId id="30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302" r:id="rId16"/>
    <p:sldId id="272" r:id="rId17"/>
    <p:sldId id="273" r:id="rId18"/>
    <p:sldId id="29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90" r:id="rId34"/>
    <p:sldId id="293" r:id="rId35"/>
    <p:sldId id="294" r:id="rId36"/>
    <p:sldId id="295" r:id="rId37"/>
    <p:sldId id="296" r:id="rId38"/>
    <p:sldId id="297" r:id="rId39"/>
    <p:sldId id="298" r:id="rId40"/>
  </p:sldIdLst>
  <p:sldSz cx="12192000" cy="6858000"/>
  <p:notesSz cx="7104063" cy="10234613"/>
  <p:embeddedFontLst>
    <p:embeddedFont>
      <p:font typeface="Verdana" panose="020B0604030504040204" pitchFamily="34" charset="0"/>
      <p:regular r:id="rId42"/>
      <p:bold r:id="rId43"/>
      <p:italic r:id="rId44"/>
      <p:boldItalic r:id="rId45"/>
    </p:embeddedFont>
    <p:embeddedFont>
      <p:font typeface="等线" panose="02010600030101010101" pitchFamily="2" charset="-122"/>
      <p:regular r:id="rId46"/>
      <p:bold r:id="rId47"/>
    </p:embeddedFont>
    <p:embeddedFont>
      <p:font typeface="华文细黑" panose="02010600040101010101" pitchFamily="2" charset="-122"/>
      <p:regular r:id="rId48"/>
    </p:embeddedFont>
    <p:embeddedFont>
      <p:font typeface="华文新魏" panose="02010800040101010101" pitchFamily="2" charset="-122"/>
      <p:regular r:id="rId49"/>
    </p:embeddedFont>
    <p:embeddedFont>
      <p:font typeface="微软雅黑" panose="020B0503020204020204" pitchFamily="34" charset="-122"/>
      <p:regular r:id="rId50"/>
      <p:bold r:id="rId5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9987" autoAdjust="0"/>
  </p:normalViewPr>
  <p:slideViewPr>
    <p:cSldViewPr snapToGrid="0">
      <p:cViewPr varScale="1">
        <p:scale>
          <a:sx n="99" d="100"/>
          <a:sy n="99" d="100"/>
        </p:scale>
        <p:origin x="966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EA2195-5C52-41C9-BF38-583957ECD53D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B166E-8214-416E-8EDE-C44E383706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76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B166E-8214-416E-8EDE-C44E3837066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357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B166E-8214-416E-8EDE-C44E3837066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7081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B166E-8214-416E-8EDE-C44E3837066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26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B166E-8214-416E-8EDE-C44E3837066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6760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B166E-8214-416E-8EDE-C44E3837066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449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Flags</a:t>
            </a:r>
            <a:r>
              <a:rPr lang="zh-CN" altLang="en-US" dirty="0"/>
              <a:t>：如</a:t>
            </a:r>
            <a:r>
              <a:rPr lang="en-US" altLang="zh-CN"/>
              <a:t>+,-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B166E-8214-416E-8EDE-C44E3837066D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484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2026/3/16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2026/3/16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25400" y="0"/>
            <a:ext cx="12217400" cy="1125538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1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459944" y="278936"/>
            <a:ext cx="864096" cy="1008063"/>
          </a:xfrm>
          <a:prstGeom prst="rect">
            <a:avLst/>
          </a:prstGeom>
        </p:spPr>
        <p:txBody>
          <a:bodyPr/>
          <a:lstStyle>
            <a:lvl1pPr marL="0" indent="0" algn="dist">
              <a:buNone/>
              <a:defRPr sz="48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3" name="文本占位符 6"/>
          <p:cNvSpPr>
            <a:spLocks noGrp="1"/>
          </p:cNvSpPr>
          <p:nvPr>
            <p:ph type="body" sz="quarter" idx="12"/>
          </p:nvPr>
        </p:nvSpPr>
        <p:spPr>
          <a:xfrm>
            <a:off x="1437592" y="348250"/>
            <a:ext cx="4586400" cy="49682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12700" y="-8890"/>
            <a:ext cx="12217400" cy="1125538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0" y="1116330"/>
            <a:ext cx="3359150" cy="57416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5" name="文本框 14"/>
          <p:cNvSpPr txBox="1">
            <a:spLocks noChangeArrowheads="1"/>
          </p:cNvSpPr>
          <p:nvPr userDrawn="1"/>
        </p:nvSpPr>
        <p:spPr bwMode="auto">
          <a:xfrm>
            <a:off x="623888" y="1537653"/>
            <a:ext cx="2003425" cy="1016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dist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6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</a:p>
        </p:txBody>
      </p:sp>
      <p:sp>
        <p:nvSpPr>
          <p:cNvPr id="16" name="文本框 15"/>
          <p:cNvSpPr txBox="1">
            <a:spLocks noChangeArrowheads="1"/>
          </p:cNvSpPr>
          <p:nvPr userDrawn="1"/>
        </p:nvSpPr>
        <p:spPr bwMode="auto">
          <a:xfrm>
            <a:off x="830263" y="2553653"/>
            <a:ext cx="1590675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dist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>
                <a:solidFill>
                  <a:srgbClr val="FFFFFF"/>
                </a:solidFill>
              </a:rPr>
              <a:t>contents</a:t>
            </a:r>
            <a:endParaRPr lang="zh-CN" altLang="en-US" sz="2400">
              <a:solidFill>
                <a:srgbClr val="FFFFFF"/>
              </a:solidFill>
            </a:endParaRPr>
          </a:p>
        </p:txBody>
      </p:sp>
      <p:sp>
        <p:nvSpPr>
          <p:cNvPr id="56" name="文本占位符 148"/>
          <p:cNvSpPr>
            <a:spLocks noGrp="1"/>
          </p:cNvSpPr>
          <p:nvPr>
            <p:ph type="body" sz="quarter" idx="11"/>
          </p:nvPr>
        </p:nvSpPr>
        <p:spPr>
          <a:xfrm>
            <a:off x="5159896" y="1885469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7" name="文本占位符 148"/>
          <p:cNvSpPr>
            <a:spLocks noGrp="1"/>
          </p:cNvSpPr>
          <p:nvPr>
            <p:ph type="body" sz="quarter" idx="12"/>
          </p:nvPr>
        </p:nvSpPr>
        <p:spPr>
          <a:xfrm>
            <a:off x="5159896" y="2650071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8" name="文本占位符 148"/>
          <p:cNvSpPr>
            <a:spLocks noGrp="1"/>
          </p:cNvSpPr>
          <p:nvPr>
            <p:ph type="body" sz="quarter" idx="13"/>
          </p:nvPr>
        </p:nvSpPr>
        <p:spPr>
          <a:xfrm>
            <a:off x="5159896" y="3414673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9" name="文本占位符 148"/>
          <p:cNvSpPr>
            <a:spLocks noGrp="1"/>
          </p:cNvSpPr>
          <p:nvPr>
            <p:ph type="body" sz="quarter" idx="14"/>
          </p:nvPr>
        </p:nvSpPr>
        <p:spPr>
          <a:xfrm>
            <a:off x="5159896" y="4179275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0" name="文本占位符 148"/>
          <p:cNvSpPr>
            <a:spLocks noGrp="1"/>
          </p:cNvSpPr>
          <p:nvPr>
            <p:ph type="body" sz="quarter" idx="15"/>
          </p:nvPr>
        </p:nvSpPr>
        <p:spPr>
          <a:xfrm>
            <a:off x="5159896" y="4943877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1" name="文本占位符 148"/>
          <p:cNvSpPr>
            <a:spLocks noGrp="1"/>
          </p:cNvSpPr>
          <p:nvPr>
            <p:ph type="body" sz="quarter" idx="16"/>
          </p:nvPr>
        </p:nvSpPr>
        <p:spPr>
          <a:xfrm>
            <a:off x="5159896" y="5708477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7" name="文本占位符 148"/>
          <p:cNvSpPr>
            <a:spLocks noGrp="1"/>
          </p:cNvSpPr>
          <p:nvPr>
            <p:ph type="body" sz="quarter" idx="17"/>
          </p:nvPr>
        </p:nvSpPr>
        <p:spPr>
          <a:xfrm>
            <a:off x="7392144" y="1885469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8" name="文本占位符 148"/>
          <p:cNvSpPr>
            <a:spLocks noGrp="1"/>
          </p:cNvSpPr>
          <p:nvPr>
            <p:ph type="body" sz="quarter" idx="18"/>
          </p:nvPr>
        </p:nvSpPr>
        <p:spPr>
          <a:xfrm>
            <a:off x="7392144" y="2656557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9" name="文本占位符 148"/>
          <p:cNvSpPr>
            <a:spLocks noGrp="1"/>
          </p:cNvSpPr>
          <p:nvPr>
            <p:ph type="body" sz="quarter" idx="19"/>
          </p:nvPr>
        </p:nvSpPr>
        <p:spPr>
          <a:xfrm>
            <a:off x="7392144" y="3411412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0" name="文本占位符 148"/>
          <p:cNvSpPr>
            <a:spLocks noGrp="1"/>
          </p:cNvSpPr>
          <p:nvPr>
            <p:ph type="body" sz="quarter" idx="20"/>
          </p:nvPr>
        </p:nvSpPr>
        <p:spPr>
          <a:xfrm>
            <a:off x="7392144" y="4179506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1" name="文本占位符 148"/>
          <p:cNvSpPr>
            <a:spLocks noGrp="1"/>
          </p:cNvSpPr>
          <p:nvPr>
            <p:ph type="body" sz="quarter" idx="21"/>
          </p:nvPr>
        </p:nvSpPr>
        <p:spPr>
          <a:xfrm>
            <a:off x="7392144" y="4956676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2" name="文本占位符 148"/>
          <p:cNvSpPr>
            <a:spLocks noGrp="1"/>
          </p:cNvSpPr>
          <p:nvPr>
            <p:ph type="body" sz="quarter" idx="22"/>
          </p:nvPr>
        </p:nvSpPr>
        <p:spPr>
          <a:xfrm>
            <a:off x="7392144" y="5709142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3" name="文本占位符 6"/>
          <p:cNvSpPr>
            <a:spLocks noGrp="1"/>
          </p:cNvSpPr>
          <p:nvPr>
            <p:ph type="body" sz="quarter" idx="23"/>
          </p:nvPr>
        </p:nvSpPr>
        <p:spPr>
          <a:xfrm>
            <a:off x="225425" y="252730"/>
            <a:ext cx="11741785" cy="6032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u="none" strike="noStrike" kern="1200" cap="none" spc="0" normalizeH="0" baseline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pPr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.xml"/><Relationship Id="rId4" Type="http://schemas.openxmlformats.org/officeDocument/2006/relationships/image" Target="../media/image5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组合 10"/>
          <p:cNvGrpSpPr/>
          <p:nvPr/>
        </p:nvGrpSpPr>
        <p:grpSpPr bwMode="auto">
          <a:xfrm>
            <a:off x="4540885" y="1763826"/>
            <a:ext cx="729615" cy="652145"/>
            <a:chOff x="1469675" y="2728606"/>
            <a:chExt cx="2187070" cy="2162788"/>
          </a:xfrm>
        </p:grpSpPr>
        <p:grpSp>
          <p:nvGrpSpPr>
            <p:cNvPr id="7188" name="组合 4"/>
            <p:cNvGrpSpPr/>
            <p:nvPr/>
          </p:nvGrpSpPr>
          <p:grpSpPr bwMode="auto">
            <a:xfrm flipH="1">
              <a:off x="1469675" y="2728606"/>
              <a:ext cx="2187070" cy="1081394"/>
              <a:chOff x="4956670" y="4443106"/>
              <a:chExt cx="4884016" cy="2414894"/>
            </a:xfrm>
          </p:grpSpPr>
          <p:sp>
            <p:nvSpPr>
              <p:cNvPr id="36" name="等腰三角形 35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37" name="任意多边形 36"/>
              <p:cNvSpPr/>
              <p:nvPr/>
            </p:nvSpPr>
            <p:spPr>
              <a:xfrm>
                <a:off x="4956670" y="4443106"/>
                <a:ext cx="2437476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7189" name="组合 7"/>
            <p:cNvGrpSpPr/>
            <p:nvPr/>
          </p:nvGrpSpPr>
          <p:grpSpPr bwMode="auto">
            <a:xfrm flipV="1">
              <a:off x="1469675" y="3810000"/>
              <a:ext cx="2187070" cy="1081394"/>
              <a:chOff x="4956670" y="4443106"/>
              <a:chExt cx="4884016" cy="2414894"/>
            </a:xfrm>
          </p:grpSpPr>
          <p:sp>
            <p:nvSpPr>
              <p:cNvPr id="34" name="等腰三角形 33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" name="任意多边形 34"/>
              <p:cNvSpPr/>
              <p:nvPr/>
            </p:nvSpPr>
            <p:spPr>
              <a:xfrm>
                <a:off x="4956670" y="4443106"/>
                <a:ext cx="2446540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45" name="Copyright Notice"/>
          <p:cNvSpPr/>
          <p:nvPr/>
        </p:nvSpPr>
        <p:spPr bwMode="auto">
          <a:xfrm>
            <a:off x="5549240" y="1854631"/>
            <a:ext cx="2549911" cy="43476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2400" rIns="72000" bIns="324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4.1 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常用数学函数</a:t>
            </a:r>
            <a:endParaRPr lang="en-US" altLang="zh-CN" sz="2400" b="1" cap="small" dirty="0">
              <a:solidFill>
                <a:srgbClr val="2153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Copyright Notice"/>
          <p:cNvSpPr/>
          <p:nvPr/>
        </p:nvSpPr>
        <p:spPr bwMode="auto">
          <a:xfrm>
            <a:off x="5585118" y="2635681"/>
            <a:ext cx="3473240" cy="43476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2400" rIns="72000" bIns="324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4.2 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字符数据类型和操作</a:t>
            </a:r>
            <a:endParaRPr lang="en-US" sz="2400" b="1" cap="small" dirty="0">
              <a:solidFill>
                <a:srgbClr val="2153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Copyright Notice"/>
          <p:cNvSpPr/>
          <p:nvPr/>
        </p:nvSpPr>
        <p:spPr bwMode="auto">
          <a:xfrm>
            <a:off x="5593439" y="3416731"/>
            <a:ext cx="2242134" cy="43476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2400" rIns="72000" bIns="324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4.3 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字符串类型</a:t>
            </a:r>
          </a:p>
        </p:txBody>
      </p:sp>
      <p:sp>
        <p:nvSpPr>
          <p:cNvPr id="51" name="Copyright Notice"/>
          <p:cNvSpPr/>
          <p:nvPr/>
        </p:nvSpPr>
        <p:spPr bwMode="auto">
          <a:xfrm>
            <a:off x="5630572" y="4197781"/>
            <a:ext cx="3074093" cy="43476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2400" rIns="72000" bIns="324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4.4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格式化控制台输出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65760" y="154305"/>
            <a:ext cx="7371080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sz="4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第</a:t>
            </a:r>
            <a:r>
              <a:rPr lang="en-US" altLang="zh-CN" sz="4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4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章 数学函数、字符和字符串</a:t>
            </a:r>
          </a:p>
        </p:txBody>
      </p:sp>
      <p:grpSp>
        <p:nvGrpSpPr>
          <p:cNvPr id="12" name="组合 10"/>
          <p:cNvGrpSpPr/>
          <p:nvPr/>
        </p:nvGrpSpPr>
        <p:grpSpPr bwMode="auto">
          <a:xfrm>
            <a:off x="4525645" y="2544876"/>
            <a:ext cx="729615" cy="652145"/>
            <a:chOff x="1469675" y="2728606"/>
            <a:chExt cx="2187070" cy="2162788"/>
          </a:xfrm>
        </p:grpSpPr>
        <p:grpSp>
          <p:nvGrpSpPr>
            <p:cNvPr id="13" name="组合 4"/>
            <p:cNvGrpSpPr/>
            <p:nvPr/>
          </p:nvGrpSpPr>
          <p:grpSpPr bwMode="auto">
            <a:xfrm flipH="1">
              <a:off x="1469675" y="2728606"/>
              <a:ext cx="2187070" cy="1081394"/>
              <a:chOff x="4956670" y="4443106"/>
              <a:chExt cx="4884016" cy="2414894"/>
            </a:xfrm>
          </p:grpSpPr>
          <p:sp>
            <p:nvSpPr>
              <p:cNvPr id="14" name="等腰三角形 13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5" name="任意多边形 14"/>
              <p:cNvSpPr/>
              <p:nvPr/>
            </p:nvSpPr>
            <p:spPr>
              <a:xfrm>
                <a:off x="4956670" y="4443106"/>
                <a:ext cx="2437476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6" name="组合 7"/>
            <p:cNvGrpSpPr/>
            <p:nvPr/>
          </p:nvGrpSpPr>
          <p:grpSpPr bwMode="auto">
            <a:xfrm flipV="1">
              <a:off x="1469675" y="3810000"/>
              <a:ext cx="2187070" cy="1081394"/>
              <a:chOff x="4956670" y="4443106"/>
              <a:chExt cx="4884016" cy="2414894"/>
            </a:xfrm>
          </p:grpSpPr>
          <p:sp>
            <p:nvSpPr>
              <p:cNvPr id="17" name="等腰三角形 16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8" name="任意多边形 17"/>
              <p:cNvSpPr/>
              <p:nvPr/>
            </p:nvSpPr>
            <p:spPr>
              <a:xfrm>
                <a:off x="4956670" y="4443106"/>
                <a:ext cx="2446540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19" name="组合 10"/>
          <p:cNvGrpSpPr/>
          <p:nvPr/>
        </p:nvGrpSpPr>
        <p:grpSpPr bwMode="auto">
          <a:xfrm>
            <a:off x="4545965" y="3325926"/>
            <a:ext cx="729615" cy="652145"/>
            <a:chOff x="1469675" y="2728606"/>
            <a:chExt cx="2187070" cy="2162788"/>
          </a:xfrm>
        </p:grpSpPr>
        <p:grpSp>
          <p:nvGrpSpPr>
            <p:cNvPr id="20" name="组合 4"/>
            <p:cNvGrpSpPr/>
            <p:nvPr/>
          </p:nvGrpSpPr>
          <p:grpSpPr bwMode="auto">
            <a:xfrm flipH="1">
              <a:off x="1469675" y="2728606"/>
              <a:ext cx="2187070" cy="1081394"/>
              <a:chOff x="4956670" y="4443106"/>
              <a:chExt cx="4884016" cy="2414894"/>
            </a:xfrm>
          </p:grpSpPr>
          <p:sp>
            <p:nvSpPr>
              <p:cNvPr id="21" name="等腰三角形 20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" name="任意多边形 21"/>
              <p:cNvSpPr/>
              <p:nvPr/>
            </p:nvSpPr>
            <p:spPr>
              <a:xfrm>
                <a:off x="4956670" y="4443106"/>
                <a:ext cx="2437476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3" name="组合 7"/>
            <p:cNvGrpSpPr/>
            <p:nvPr/>
          </p:nvGrpSpPr>
          <p:grpSpPr bwMode="auto">
            <a:xfrm flipV="1">
              <a:off x="1469675" y="3810000"/>
              <a:ext cx="2187070" cy="1081394"/>
              <a:chOff x="4956670" y="4443106"/>
              <a:chExt cx="4884016" cy="2414894"/>
            </a:xfrm>
          </p:grpSpPr>
          <p:sp>
            <p:nvSpPr>
              <p:cNvPr id="24" name="等腰三角形 23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4956670" y="4443106"/>
                <a:ext cx="2446540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52" name="组合 10"/>
          <p:cNvGrpSpPr/>
          <p:nvPr/>
        </p:nvGrpSpPr>
        <p:grpSpPr bwMode="auto">
          <a:xfrm>
            <a:off x="4530725" y="4106976"/>
            <a:ext cx="729615" cy="652145"/>
            <a:chOff x="1469675" y="2728606"/>
            <a:chExt cx="2187070" cy="2162788"/>
          </a:xfrm>
        </p:grpSpPr>
        <p:grpSp>
          <p:nvGrpSpPr>
            <p:cNvPr id="53" name="组合 4"/>
            <p:cNvGrpSpPr/>
            <p:nvPr/>
          </p:nvGrpSpPr>
          <p:grpSpPr bwMode="auto">
            <a:xfrm flipH="1">
              <a:off x="1469675" y="2728606"/>
              <a:ext cx="2187070" cy="1081394"/>
              <a:chOff x="4956670" y="4443106"/>
              <a:chExt cx="4884016" cy="2414894"/>
            </a:xfrm>
          </p:grpSpPr>
          <p:sp>
            <p:nvSpPr>
              <p:cNvPr id="54" name="等腰三角形 53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55" name="任意多边形 54"/>
              <p:cNvSpPr/>
              <p:nvPr/>
            </p:nvSpPr>
            <p:spPr>
              <a:xfrm>
                <a:off x="4956670" y="4443106"/>
                <a:ext cx="2437476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6" name="组合 7"/>
            <p:cNvGrpSpPr/>
            <p:nvPr/>
          </p:nvGrpSpPr>
          <p:grpSpPr bwMode="auto">
            <a:xfrm flipV="1">
              <a:off x="1469675" y="3810000"/>
              <a:ext cx="2187070" cy="1081394"/>
              <a:chOff x="4956670" y="4443106"/>
              <a:chExt cx="4884016" cy="2414894"/>
            </a:xfrm>
          </p:grpSpPr>
          <p:sp>
            <p:nvSpPr>
              <p:cNvPr id="57" name="等腰三角形 56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58" name="任意多边形 57"/>
              <p:cNvSpPr/>
              <p:nvPr/>
            </p:nvSpPr>
            <p:spPr>
              <a:xfrm>
                <a:off x="4956670" y="4443106"/>
                <a:ext cx="2446540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4.1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常用数学函数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7" y="1228245"/>
            <a:ext cx="11447225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Math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是</a:t>
            </a:r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final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类：在</a:t>
            </a:r>
            <a:r>
              <a:rPr lang="en-US" altLang="zh-CN" sz="2800" b="1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java.lang.Math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中，所有数学函数都是静态方法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96098" y="1868977"/>
            <a:ext cx="11065815" cy="4678362"/>
          </a:xfrm>
          <a:prstGeom prst="rect">
            <a:avLst/>
          </a:prstGeom>
        </p:spPr>
        <p:txBody>
          <a:bodyPr/>
          <a:lstStyle/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Math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类中定义了常用的数学常量，如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PI : 3.14159265358979323846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E : 2.7182818284590452354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自然对数的底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方法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: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注意都是静态函数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三角函数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sin,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cos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, tan,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asin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acos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atan,toRadians,toDigrees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指数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exp, log, log10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pow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sqrt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取整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ceil, floor, round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其它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min, max, abs, random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[0.0,1.0)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4.1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常用数学函数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7" y="1228245"/>
            <a:ext cx="11447225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Math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的三角函数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D86866D-42D6-4FBE-B6D7-28B2DCB4C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821" y="1770710"/>
            <a:ext cx="9818358" cy="486272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9D39067-316A-4D6A-93BA-031A193E34FC}"/>
              </a:ext>
            </a:extLst>
          </p:cNvPr>
          <p:cNvSpPr/>
          <p:nvPr/>
        </p:nvSpPr>
        <p:spPr>
          <a:xfrm>
            <a:off x="4625009" y="5579165"/>
            <a:ext cx="1470991" cy="2650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400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4.1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常用数学函数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7" y="1228245"/>
            <a:ext cx="11447225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Math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的指数函数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D06A723-B334-4D8C-ADB6-8BA44B093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19830"/>
            <a:ext cx="11049000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415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4.1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常用数学函数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7" y="1228245"/>
            <a:ext cx="11447225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Math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的取整函数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71897E4-0151-44D8-8C99-30D33AC93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39" y="2067405"/>
            <a:ext cx="11620500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295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4.1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常用数学函数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例</a:t>
            </a:r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  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生成随机字符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848092" y="1921730"/>
            <a:ext cx="10687416" cy="4678362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Math.random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方法生成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[0.0,1.0)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之间的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double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类型的随机数，可以用它写出简单的表达式来生成任意范围的随机数，如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：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	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int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）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Math.random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( 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*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10);		//[0,10)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     50+(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int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)(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Math.random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( )*50);		//[50,100)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一般地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a+(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int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)(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Math.random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( )*b)                     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返回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[a,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a+b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      a+(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int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)(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Math.random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( )*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b+1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）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)          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返回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[a,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a+b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4.1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常用数学函数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例</a:t>
            </a:r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生成随机字符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45869" y="1842600"/>
            <a:ext cx="10687416" cy="4678362"/>
          </a:xfrm>
          <a:prstGeom prst="rect">
            <a:avLst/>
          </a:prstGeom>
        </p:spPr>
        <p:txBody>
          <a:bodyPr/>
          <a:lstStyle/>
          <a:p>
            <a:pPr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编写生成随机字符的方法。</a:t>
            </a:r>
          </a:p>
          <a:p>
            <a:pPr marL="541338" lvl="1">
              <a:lnSpc>
                <a:spcPct val="15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Java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中每个字符对应一个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Unicode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编码从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0000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FFFF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。要生成一个随机字符，就是产生一个从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65535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之间的随机数。所以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计算表达式为：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541338" lvl="1">
              <a:lnSpc>
                <a:spcPct val="150000"/>
              </a:lnSpc>
            </a:pP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marL="541338" lvl="1">
              <a:lnSpc>
                <a:spcPct val="15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Math.random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 ) * (65535 + 1))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0" lvl="1" indent="-285750">
              <a:buFont typeface="Wingdings" pitchFamily="2" charset="2"/>
              <a:buChar char="u"/>
            </a:pP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  <a:p>
            <a:pPr indent="-285750"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英文大、小写字母的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Unicode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是一串连续的整数，如</a:t>
            </a:r>
          </a:p>
          <a:p>
            <a:pPr marL="541338" lvl="1">
              <a:lnSpc>
                <a:spcPct val="15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‘a’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的编码是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	int x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=‘a’//x = 97 , 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char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可以自动转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int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   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由于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char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类型可自动地被转换为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int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类型，所以我们可以使用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字符字面量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代表整数值：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   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‘a’(97), ‘b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’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(98)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，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…, ‘z’(122)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4.1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常用数学函数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例</a:t>
            </a:r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生成随机字符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45869" y="1842600"/>
            <a:ext cx="10687416" cy="467836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因此，随机生成从‘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a’-‘z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’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之间的字符就等于生成‘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a’-‘z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’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之间的随机数，又因为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可以使用字符字面量代表对应整数值，因此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可用下面表达式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	(char)(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‘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a’+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Math.Random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 ) * (‘z’-’a’+1)))</a:t>
            </a:r>
          </a:p>
          <a:p>
            <a:pPr>
              <a:lnSpc>
                <a:spcPct val="13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随机产生从‘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a’-‘z’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之间的字符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</a:pP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将上面讨论一般化，按如下表达式，可以生成任意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个字符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ch1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ch2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ch1&lt;ch2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）之间的随机字符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</a:pP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(char)(ch1+(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)(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Math.rabdom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()*(ch2-ch1+1)))</a:t>
            </a:r>
          </a:p>
          <a:p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4.1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常用数学函数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例</a:t>
            </a:r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生成随机字符</a:t>
            </a:r>
          </a:p>
        </p:txBody>
      </p:sp>
      <p:sp>
        <p:nvSpPr>
          <p:cNvPr id="7" name="矩形 6"/>
          <p:cNvSpPr/>
          <p:nvPr/>
        </p:nvSpPr>
        <p:spPr>
          <a:xfrm>
            <a:off x="589085" y="1811215"/>
            <a:ext cx="10128739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public class </a:t>
            </a:r>
            <a:r>
              <a:rPr lang="en-US" altLang="zh-CN" dirty="0" err="1"/>
              <a:t>RandomCharacter</a:t>
            </a:r>
            <a:r>
              <a:rPr lang="en-US" altLang="zh-CN" dirty="0"/>
              <a:t> {</a:t>
            </a:r>
          </a:p>
          <a:p>
            <a:r>
              <a:rPr lang="en-US" altLang="zh-CN" dirty="0"/>
              <a:t>	/** Generate a random character between ch1 and ch2 */</a:t>
            </a:r>
          </a:p>
          <a:p>
            <a:r>
              <a:rPr lang="en-US" altLang="zh-CN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public static char </a:t>
            </a:r>
            <a:r>
              <a:rPr lang="en-US" altLang="zh-CN" dirty="0" err="1">
                <a:solidFill>
                  <a:srgbClr val="FF0000"/>
                </a:solidFill>
              </a:rPr>
              <a:t>getRandomCharacter</a:t>
            </a:r>
            <a:r>
              <a:rPr lang="en-US" altLang="zh-CN" dirty="0">
                <a:solidFill>
                  <a:srgbClr val="FF0000"/>
                </a:solidFill>
              </a:rPr>
              <a:t>(char ch1, char ch2) {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		return (char) (ch1 + (</a:t>
            </a:r>
            <a:r>
              <a:rPr lang="en-US" altLang="zh-CN" dirty="0" err="1">
                <a:solidFill>
                  <a:srgbClr val="FF0000"/>
                </a:solidFill>
              </a:rPr>
              <a:t>int</a:t>
            </a:r>
            <a:r>
              <a:rPr lang="en-US" altLang="zh-CN" dirty="0">
                <a:solidFill>
                  <a:srgbClr val="FF0000"/>
                </a:solidFill>
              </a:rPr>
              <a:t>)(</a:t>
            </a:r>
            <a:r>
              <a:rPr lang="en-US" altLang="zh-CN" dirty="0" err="1">
                <a:solidFill>
                  <a:srgbClr val="FF0000"/>
                </a:solidFill>
              </a:rPr>
              <a:t>Math.random</a:t>
            </a:r>
            <a:r>
              <a:rPr lang="en-US" altLang="zh-CN" dirty="0">
                <a:solidFill>
                  <a:srgbClr val="FF0000"/>
                </a:solidFill>
              </a:rPr>
              <a:t>( ) * (ch2 - ch1 + 1)));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	}</a:t>
            </a:r>
          </a:p>
          <a:p>
            <a:endParaRPr lang="en-US" altLang="zh-CN" dirty="0"/>
          </a:p>
          <a:p>
            <a:r>
              <a:rPr lang="en-US" altLang="zh-CN" dirty="0"/>
              <a:t>	/** Generate a random lowercase letter */</a:t>
            </a:r>
          </a:p>
          <a:p>
            <a:r>
              <a:rPr lang="en-US" altLang="zh-CN" dirty="0"/>
              <a:t>	public static char </a:t>
            </a:r>
            <a:r>
              <a:rPr lang="en-US" altLang="zh-CN" dirty="0" err="1"/>
              <a:t>getRandomLowerCaseLetter</a:t>
            </a:r>
            <a:r>
              <a:rPr lang="en-US" altLang="zh-CN" dirty="0"/>
              <a:t>( ) {</a:t>
            </a:r>
          </a:p>
          <a:p>
            <a:r>
              <a:rPr lang="en-US" altLang="zh-CN" dirty="0"/>
              <a:t>		return </a:t>
            </a:r>
            <a:r>
              <a:rPr lang="en-US" altLang="zh-CN" dirty="0" err="1"/>
              <a:t>getRandomCharacter</a:t>
            </a:r>
            <a:r>
              <a:rPr lang="en-US" altLang="zh-CN" dirty="0"/>
              <a:t>('a', 'z');</a:t>
            </a:r>
          </a:p>
          <a:p>
            <a:r>
              <a:rPr lang="en-US" altLang="zh-CN" dirty="0"/>
              <a:t>	}</a:t>
            </a:r>
          </a:p>
          <a:p>
            <a:endParaRPr lang="en-US" altLang="zh-CN" dirty="0"/>
          </a:p>
          <a:p>
            <a:r>
              <a:rPr lang="en-US" altLang="zh-CN" dirty="0"/>
              <a:t>	/** Generate a random digit character */</a:t>
            </a:r>
          </a:p>
          <a:p>
            <a:r>
              <a:rPr lang="en-US" altLang="zh-CN" dirty="0"/>
              <a:t>	public static char </a:t>
            </a:r>
            <a:r>
              <a:rPr lang="en-US" altLang="zh-CN" dirty="0" err="1"/>
              <a:t>getRandomDigitCharacter</a:t>
            </a:r>
            <a:r>
              <a:rPr lang="en-US" altLang="zh-CN" dirty="0"/>
              <a:t>( ) {</a:t>
            </a:r>
          </a:p>
          <a:p>
            <a:r>
              <a:rPr lang="en-US" altLang="zh-CN" dirty="0"/>
              <a:t>		return </a:t>
            </a:r>
            <a:r>
              <a:rPr lang="en-US" altLang="zh-CN" dirty="0" err="1"/>
              <a:t>getRandomCharacter</a:t>
            </a:r>
            <a:r>
              <a:rPr lang="en-US" altLang="zh-CN" dirty="0"/>
              <a:t>('0', '9');</a:t>
            </a:r>
          </a:p>
          <a:p>
            <a:r>
              <a:rPr lang="en-US" altLang="zh-CN" dirty="0"/>
              <a:t>	}</a:t>
            </a:r>
          </a:p>
          <a:p>
            <a:endParaRPr lang="en-US" altLang="zh-CN" dirty="0"/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4.2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字符数据类型和操作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Unicode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和</a:t>
            </a:r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ASCII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码</a:t>
            </a:r>
          </a:p>
        </p:txBody>
      </p:sp>
      <p:sp>
        <p:nvSpPr>
          <p:cNvPr id="7" name="矩形 6"/>
          <p:cNvSpPr/>
          <p:nvPr/>
        </p:nvSpPr>
        <p:spPr>
          <a:xfrm>
            <a:off x="589085" y="1811215"/>
            <a:ext cx="10128739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Java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对字符采用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位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Unicode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编码，因此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char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类型的大小为二个字节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位的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Unicode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用以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\u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开头的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位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进制数表示，范围从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’\u0000’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’\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uffff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’,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不能少写位数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Unicode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包括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ASCII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码，从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’\u0000’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’\u007f’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对应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128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ASCII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字符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JAVA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中的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ASCII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字符也可以用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Unicode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表示，例如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 char letter =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‘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’；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 char letter =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‘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\u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00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41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’；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//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等价，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\u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后面必须写满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位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进制数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++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--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运算符也可以用在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char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类型数据上（因为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char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自动转整数），运算结果为该字符之后或之前的字符，例如下面的语句显示字符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b</a:t>
            </a: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char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ch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= ‘a’;</a:t>
            </a: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System.out.println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(++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ch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);  //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显示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4.2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字符数据类型和操作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特殊字符的转义</a:t>
            </a:r>
          </a:p>
        </p:txBody>
      </p:sp>
      <p:sp>
        <p:nvSpPr>
          <p:cNvPr id="7" name="矩形 6"/>
          <p:cNvSpPr/>
          <p:nvPr/>
        </p:nvSpPr>
        <p:spPr>
          <a:xfrm>
            <a:off x="589085" y="1811215"/>
            <a:ext cx="10128739" cy="2693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一样，采用反斜杠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(\)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后面加上一个字符或者一些数字位组成转义序列，一个转义序列被当做一个字符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如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\n  \t  \b  \r  \f  \\  \'  \"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30000"/>
              </a:lnSpc>
            </a:pP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如果想打印带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””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的信息 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He said “Java is fun “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 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System.out.println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(“He said \”Java is fun \””);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4.2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字符数据类型和操作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字符型数据和数值类型数据之间的转换</a:t>
            </a:r>
          </a:p>
        </p:txBody>
      </p:sp>
      <p:sp>
        <p:nvSpPr>
          <p:cNvPr id="7" name="矩形 6"/>
          <p:cNvSpPr/>
          <p:nvPr/>
        </p:nvSpPr>
        <p:spPr>
          <a:xfrm>
            <a:off x="589085" y="1811215"/>
            <a:ext cx="10741524" cy="3658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char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类型数据可以转换成任意一种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数值类型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反之亦然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。将整数转换成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char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类型数据时，只用到该数据的低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位，其余被忽略。例如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char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ch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=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char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0xAB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0041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//0xAB0041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字面量，要赋值给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char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，必须强制类型转换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  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System.out.println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ch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);	//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显示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A</a:t>
            </a: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要将浮点数转成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char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时，先把浮点数转成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型，然后将整数转换成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char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   char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ch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=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char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65.25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  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System.out.println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ch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);	//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显示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A</a:t>
            </a: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当一个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char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型转换成数值型时，这个字符的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Unicode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码就被转换成某种特定数据类型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   int i =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‘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’；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//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不用强制类型转换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  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System.out.println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);		//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显示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65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4.2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字符数据类型和操作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字符型数据和数值类型数据之间的转换</a:t>
            </a:r>
          </a:p>
        </p:txBody>
      </p:sp>
      <p:sp>
        <p:nvSpPr>
          <p:cNvPr id="7" name="矩形 6"/>
          <p:cNvSpPr/>
          <p:nvPr/>
        </p:nvSpPr>
        <p:spPr>
          <a:xfrm>
            <a:off x="589085" y="1811215"/>
            <a:ext cx="10128739" cy="44135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如果转换结果适用于目标变量（不会有精度损失），可以采用隐式转换；否则必须强制类型转换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=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‘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’；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byte b =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byte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）‘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\uFF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F4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’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;  //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取低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位二进制数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F4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赋值给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b</a:t>
            </a: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所有数值运算符都可以用在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char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型操作数上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，如果另一个操作数是数值，那么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char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型操作数就自动转换为数值；如果另外一个操作数是字符串，那么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char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型操作数会自动转换成字符串再和另外一个操作数字符串相连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  int i = ‘2’+ ‘3’;  //0x32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0x33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System.out.println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）； 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//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50+51=101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j = 2 +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‘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’；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       //j = 2 + 97 = 99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System.out.println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(j + “ is the Unicode of ”+ (char)j);//99 is the Unicode of  c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</a:t>
            </a:r>
          </a:p>
          <a:p>
            <a:pPr lvl="1">
              <a:lnSpc>
                <a:spcPct val="130000"/>
              </a:lnSpc>
            </a:pP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4.2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字符数据类型和操作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字符的比较和测试，</a:t>
            </a:r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Character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类</a:t>
            </a:r>
          </a:p>
        </p:txBody>
      </p:sp>
      <p:sp>
        <p:nvSpPr>
          <p:cNvPr id="7" name="矩形 6"/>
          <p:cNvSpPr/>
          <p:nvPr/>
        </p:nvSpPr>
        <p:spPr>
          <a:xfrm>
            <a:off x="589085" y="1811215"/>
            <a:ext cx="10128739" cy="4717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Wingdings" pitchFamily="2" charset="2"/>
              <a:buChar char="u"/>
            </a:pP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两个字符可以通过关系运算符进行比较，如同比较二个数值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：通过字符的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Unicode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值进行比较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  <a:buFont typeface="Wingdings" pitchFamily="2" charset="2"/>
              <a:buChar char="u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Java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为每个基本类型实现了对应的包装类，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char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类型的包装类是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Character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类。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注意包装类对象为引用类型，不是值类型</a:t>
            </a:r>
            <a:endParaRPr lang="en-US" altLang="zh-CN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  <a:buFont typeface="Wingdings" pitchFamily="2" charset="2"/>
              <a:buChar char="u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Character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类的作用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将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char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类型的数据封装成对象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包含处理字符的方法和常量</a:t>
            </a:r>
          </a:p>
          <a:p>
            <a:pPr>
              <a:lnSpc>
                <a:spcPct val="120000"/>
              </a:lnSpc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方法：下面方法都是静态方法</a:t>
            </a:r>
          </a:p>
          <a:p>
            <a:pPr lvl="1">
              <a:lnSpc>
                <a:spcPct val="120000"/>
              </a:lnSpc>
            </a:pP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isDigit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方法判断一个字符是否是数字</a:t>
            </a:r>
          </a:p>
          <a:p>
            <a:pPr lvl="1">
              <a:lnSpc>
                <a:spcPct val="120000"/>
              </a:lnSpc>
            </a:pP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isLetter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方法判断一个字符是否是字母</a:t>
            </a:r>
          </a:p>
          <a:p>
            <a:pPr lvl="1">
              <a:lnSpc>
                <a:spcPct val="120000"/>
              </a:lnSpc>
            </a:pP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isLetterOrDigit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方法判断一个字符是否是字母或数字</a:t>
            </a:r>
          </a:p>
          <a:p>
            <a:pPr lvl="1">
              <a:lnSpc>
                <a:spcPct val="120000"/>
              </a:lnSpc>
            </a:pP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isLowerCase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方法判断一个字符是否是小写</a:t>
            </a:r>
          </a:p>
          <a:p>
            <a:pPr lvl="1">
              <a:lnSpc>
                <a:spcPct val="120000"/>
              </a:lnSpc>
            </a:pP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isUpperCase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方法判断一个字符是否是大写</a:t>
            </a:r>
          </a:p>
          <a:p>
            <a:pPr lvl="1">
              <a:lnSpc>
                <a:spcPct val="120000"/>
              </a:lnSpc>
            </a:pP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toLowerCase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方法将一个字符转换成小写</a:t>
            </a:r>
          </a:p>
          <a:p>
            <a:pPr lvl="1">
              <a:lnSpc>
                <a:spcPct val="120000"/>
              </a:lnSpc>
            </a:pP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toUpperCase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方法将一个字符转换成大写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4.2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字符数据类型和操作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字符的比较和测试，</a:t>
            </a:r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Character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A347D6-A921-4CE2-970D-78A7DC9B21F8}"/>
              </a:ext>
            </a:extLst>
          </p:cNvPr>
          <p:cNvSpPr/>
          <p:nvPr/>
        </p:nvSpPr>
        <p:spPr>
          <a:xfrm>
            <a:off x="426720" y="1843950"/>
            <a:ext cx="957072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+mj-lt"/>
                <a:cs typeface="Courier New" panose="02070309020205020404" pitchFamily="49" charset="0"/>
              </a:rPr>
              <a:t>package hust.cs.javacourse.ch3;</a:t>
            </a:r>
          </a:p>
          <a:p>
            <a:endParaRPr lang="zh-CN" altLang="en-US" sz="2000" b="1" dirty="0">
              <a:latin typeface="+mj-lt"/>
              <a:cs typeface="Courier New" panose="02070309020205020404" pitchFamily="49" charset="0"/>
            </a:endParaRPr>
          </a:p>
          <a:p>
            <a:r>
              <a:rPr lang="zh-CN" altLang="en-US" sz="2000" b="1" dirty="0">
                <a:latin typeface="+mj-lt"/>
                <a:cs typeface="Courier New" panose="02070309020205020404" pitchFamily="49" charset="0"/>
              </a:rPr>
              <a:t>public class CharacterTest {</a:t>
            </a:r>
          </a:p>
          <a:p>
            <a:r>
              <a:rPr lang="zh-CN" altLang="en-US" sz="2000" b="1" dirty="0">
                <a:latin typeface="+mj-lt"/>
                <a:cs typeface="Courier New" panose="02070309020205020404" pitchFamily="49" charset="0"/>
              </a:rPr>
              <a:t>    public static void main(String[] args){</a:t>
            </a:r>
          </a:p>
          <a:p>
            <a:r>
              <a:rPr lang="zh-CN" altLang="en-US" sz="2000" b="1" dirty="0">
                <a:latin typeface="+mj-lt"/>
                <a:cs typeface="Courier New" panose="02070309020205020404" pitchFamily="49" charset="0"/>
              </a:rPr>
              <a:t>        System.out.println("Character.isDigit('1') is:" + Character.isDigit('1'));</a:t>
            </a:r>
          </a:p>
          <a:p>
            <a:r>
              <a:rPr lang="zh-CN" altLang="en-US" sz="2000" b="1" dirty="0">
                <a:latin typeface="+mj-lt"/>
                <a:cs typeface="Courier New" panose="02070309020205020404" pitchFamily="49" charset="0"/>
              </a:rPr>
              <a:t>        System.out.println("Character.is</a:t>
            </a:r>
            <a:r>
              <a:rPr lang="en-US" altLang="zh-CN" sz="2000" b="1" dirty="0">
                <a:latin typeface="+mj-lt"/>
                <a:cs typeface="Courier New" panose="02070309020205020404" pitchFamily="49" charset="0"/>
              </a:rPr>
              <a:t>Letter</a:t>
            </a:r>
            <a:r>
              <a:rPr lang="zh-CN" altLang="en-US" sz="2000" b="1" dirty="0">
                <a:latin typeface="+mj-lt"/>
                <a:cs typeface="Courier New" panose="02070309020205020404" pitchFamily="49" charset="0"/>
              </a:rPr>
              <a:t>('a') is:" + Character.isLetter('a'));</a:t>
            </a:r>
          </a:p>
          <a:p>
            <a:r>
              <a:rPr lang="zh-CN" altLang="en-US" sz="2000" b="1" dirty="0">
                <a:latin typeface="+mj-lt"/>
                <a:cs typeface="Courier New" panose="02070309020205020404" pitchFamily="49" charset="0"/>
              </a:rPr>
              <a:t>        System.out.println("Character.isLetterOrDigit('+') is:" + Character.isLetterOrDigit('+'));</a:t>
            </a:r>
          </a:p>
          <a:p>
            <a:r>
              <a:rPr lang="zh-CN" altLang="en-US" sz="2000" b="1" dirty="0">
                <a:latin typeface="+mj-lt"/>
                <a:cs typeface="Courier New" panose="02070309020205020404" pitchFamily="49" charset="0"/>
              </a:rPr>
              <a:t>        System.out.println("Character.isUpperCase('A') is:" + Character.isUpperCase('A'));</a:t>
            </a:r>
          </a:p>
          <a:p>
            <a:r>
              <a:rPr lang="zh-CN" altLang="en-US" sz="2000" b="1" dirty="0">
                <a:latin typeface="+mj-lt"/>
                <a:cs typeface="Courier New" panose="02070309020205020404" pitchFamily="49" charset="0"/>
              </a:rPr>
              <a:t>    }</a:t>
            </a:r>
          </a:p>
          <a:p>
            <a:r>
              <a:rPr lang="zh-CN" altLang="en-US" sz="2000" b="1" dirty="0">
                <a:latin typeface="+mj-lt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F922519-614F-43EB-930F-1874581C9564}"/>
              </a:ext>
            </a:extLst>
          </p:cNvPr>
          <p:cNvSpPr/>
          <p:nvPr/>
        </p:nvSpPr>
        <p:spPr>
          <a:xfrm>
            <a:off x="2947866" y="4891316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 dirty="0" err="1">
                <a:solidFill>
                  <a:srgbClr val="FF0000"/>
                </a:solidFill>
              </a:rPr>
              <a:t>Character.isDigit</a:t>
            </a:r>
            <a:r>
              <a:rPr lang="en-US" altLang="zh-CN" sz="2000" dirty="0">
                <a:solidFill>
                  <a:srgbClr val="FF0000"/>
                </a:solidFill>
              </a:rPr>
              <a:t>('1') </a:t>
            </a:r>
            <a:r>
              <a:rPr lang="en-US" altLang="zh-CN" sz="2000" dirty="0" err="1">
                <a:solidFill>
                  <a:srgbClr val="FF0000"/>
                </a:solidFill>
              </a:rPr>
              <a:t>is:true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 err="1">
                <a:solidFill>
                  <a:srgbClr val="FF0000"/>
                </a:solidFill>
              </a:rPr>
              <a:t>Character.isLetter</a:t>
            </a:r>
            <a:r>
              <a:rPr lang="en-US" altLang="zh-CN" sz="2000" dirty="0">
                <a:solidFill>
                  <a:srgbClr val="FF0000"/>
                </a:solidFill>
              </a:rPr>
              <a:t>('a') </a:t>
            </a:r>
            <a:r>
              <a:rPr lang="en-US" altLang="zh-CN" sz="2000" dirty="0" err="1">
                <a:solidFill>
                  <a:srgbClr val="FF0000"/>
                </a:solidFill>
              </a:rPr>
              <a:t>is:true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 err="1">
                <a:solidFill>
                  <a:srgbClr val="FF0000"/>
                </a:solidFill>
              </a:rPr>
              <a:t>Character.isLetterOrDigit</a:t>
            </a:r>
            <a:r>
              <a:rPr lang="en-US" altLang="zh-CN" sz="2000" dirty="0">
                <a:solidFill>
                  <a:srgbClr val="FF0000"/>
                </a:solidFill>
              </a:rPr>
              <a:t>('+') </a:t>
            </a:r>
            <a:r>
              <a:rPr lang="en-US" altLang="zh-CN" sz="2000" dirty="0" err="1">
                <a:solidFill>
                  <a:srgbClr val="FF0000"/>
                </a:solidFill>
              </a:rPr>
              <a:t>is:false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 err="1">
                <a:solidFill>
                  <a:srgbClr val="FF0000"/>
                </a:solidFill>
              </a:rPr>
              <a:t>Character.isUpperCase</a:t>
            </a:r>
            <a:r>
              <a:rPr lang="en-US" altLang="zh-CN" sz="2000" dirty="0">
                <a:solidFill>
                  <a:srgbClr val="FF0000"/>
                </a:solidFill>
              </a:rPr>
              <a:t>('A') </a:t>
            </a:r>
            <a:r>
              <a:rPr lang="en-US" altLang="zh-CN" sz="2000" dirty="0" err="1">
                <a:solidFill>
                  <a:srgbClr val="FF0000"/>
                </a:solidFill>
              </a:rPr>
              <a:t>is:true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218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String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类：是一个</a:t>
            </a:r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final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类，不能被继承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79321" y="1827032"/>
            <a:ext cx="11039522" cy="4338876"/>
          </a:xfrm>
          <a:prstGeom prst="rect">
            <a:avLst/>
          </a:prstGeom>
        </p:spPr>
        <p:txBody>
          <a:bodyPr/>
          <a:lstStyle/>
          <a:p>
            <a:pPr>
              <a:buFont typeface="Wingdings" pitchFamily="2" charset="2"/>
              <a:buChar char="u"/>
              <a:defRPr/>
            </a:pP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java.lang.String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表示一个固定长度的字符序列，实例化后其内容不能改。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Ø"/>
              <a:defRPr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构造函数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Ø"/>
              <a:defRPr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长度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(length)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Ø"/>
              <a:defRPr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获取字符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charAt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Ø"/>
              <a:defRPr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连接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concat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Ø"/>
              <a:defRPr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截取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(substring)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Ø"/>
              <a:defRPr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比较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(equals,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equalsIngnoeCase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compareTo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startWith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endWith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regionMatch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Ø"/>
              <a:defRPr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转换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toLowerCase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toUpperCase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, trim, replace)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Ø"/>
              <a:defRPr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查找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indexOf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lastIndexOf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Ø"/>
              <a:defRPr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字符串和数组间转换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getChars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toCharArray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), 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Ø"/>
              <a:defRPr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字符串和数字间转换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valueOf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)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String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类对象的构造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58728" y="1868977"/>
            <a:ext cx="10990541" cy="467836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从字面值创建字符串</a:t>
            </a: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String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newString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= new String(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stringLiteral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);</a:t>
            </a:r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例如：</a:t>
            </a: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String message = new String("Welcome to Java");</a:t>
            </a: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由于字符串经常使用，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java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提供了创建字符串的简写形式。</a:t>
            </a: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String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newString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=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stringLiteral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;</a:t>
            </a:r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例如：</a:t>
            </a: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String m1 = “Welcome”;  	//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字符串的内容都是不可修改的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String m2 = “Welcome”;       //m1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通过内存优化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引用了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同一常量对象：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m1==m2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String m3 = "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Wel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" +"come"; 		//m1==m2==m3  </a:t>
            </a: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String m4 = "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Wel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" +new String("come"); 	//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m1!=m4</a:t>
            </a:r>
            <a:endParaRPr lang="zh-CN" altLang="en-US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30000"/>
              </a:lnSpc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</a:p>
        </p:txBody>
      </p:sp>
      <p:sp>
        <p:nvSpPr>
          <p:cNvPr id="5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规范字符串和常量池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56713" y="1868976"/>
            <a:ext cx="10922000" cy="4678362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由于字符串是不可变的，为了提高效率和节省内存，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Java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中的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字符串字面值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维护在字符串常量池中）。这样的字符串称为规范字符串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(canonical string)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可以使用字符串对象（假设内容为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Welcome to Java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）的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intern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方法返回规范化字符串。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intern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方法会在字符串常量池中找是否已存在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”Welcome to Java”,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如果有返回其地址。如果没有，在池中添加“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Welcome to java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”再返回地址。即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intern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方法一定返回一个指向常量池里的字符串对象引用。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25234" y="3984079"/>
            <a:ext cx="4363823" cy="2031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indent="182563" algn="l"/>
            <a:r>
              <a:rPr lang="en-US" altLang="zh-CN" sz="1800" dirty="0"/>
              <a:t>String s = "Welcome to Java";</a:t>
            </a:r>
          </a:p>
          <a:p>
            <a:pPr indent="182563" algn="l"/>
            <a:r>
              <a:rPr lang="en-US" altLang="zh-CN" sz="1800" dirty="0"/>
              <a:t>String s1 = new String("Welcome to Java");</a:t>
            </a:r>
          </a:p>
          <a:p>
            <a:pPr indent="182563" algn="l"/>
            <a:r>
              <a:rPr lang="en-US" altLang="zh-CN" sz="1800" dirty="0"/>
              <a:t>String s2 = </a:t>
            </a:r>
            <a:r>
              <a:rPr lang="en-US" altLang="zh-CN" sz="1800" dirty="0">
                <a:solidFill>
                  <a:srgbClr val="FF0000"/>
                </a:solidFill>
              </a:rPr>
              <a:t>s1.intern(); </a:t>
            </a:r>
          </a:p>
          <a:p>
            <a:pPr indent="182563" algn="l"/>
            <a:r>
              <a:rPr lang="en-US" altLang="zh-CN" sz="1800" dirty="0"/>
              <a:t>String s3 = "Welcome to Java";</a:t>
            </a:r>
          </a:p>
          <a:p>
            <a:pPr indent="182563" algn="l"/>
            <a:r>
              <a:rPr lang="en-US" altLang="zh-CN" sz="1800" dirty="0"/>
              <a:t>System.out.println(s1 == s); //false</a:t>
            </a:r>
          </a:p>
          <a:p>
            <a:pPr indent="182563" algn="l"/>
            <a:r>
              <a:rPr lang="en-US" altLang="zh-CN" sz="1800" dirty="0"/>
              <a:t>System.out.println(s2 == s); //true</a:t>
            </a:r>
          </a:p>
          <a:p>
            <a:pPr indent="182563" algn="l"/>
            <a:r>
              <a:rPr lang="en-US" altLang="zh-CN" sz="1800" dirty="0"/>
              <a:t>System.out.println(s3 == s); //true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2582450" y="3928518"/>
            <a:ext cx="2817283" cy="7524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72000" tIns="72000" rIns="72000" bIns="72000"/>
          <a:lstStyle/>
          <a:p>
            <a:pPr eaLnBrk="0" hangingPunct="0"/>
            <a:r>
              <a:rPr lang="en-US" altLang="zh-CN" sz="1800" u="sng" dirty="0">
                <a:latin typeface="Times New Roman" pitchFamily="18" charset="0"/>
              </a:rPr>
              <a:t>: String</a:t>
            </a:r>
          </a:p>
          <a:p>
            <a:pPr eaLnBrk="0" hangingPunct="0">
              <a:spcBef>
                <a:spcPts val="500"/>
              </a:spcBef>
            </a:pPr>
            <a:r>
              <a:rPr lang="en-US" altLang="zh-CN" sz="1800" dirty="0">
                <a:latin typeface="Times New Roman" pitchFamily="18" charset="0"/>
              </a:rPr>
              <a:t>"Welcome to Java"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2582450" y="4961979"/>
            <a:ext cx="2817283" cy="750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72000" tIns="72000" rIns="72000" bIns="72000"/>
          <a:lstStyle/>
          <a:p>
            <a:pPr eaLnBrk="0" hangingPunct="0"/>
            <a:r>
              <a:rPr lang="en-US" altLang="zh-CN" sz="1800" u="sng">
                <a:latin typeface="Times New Roman" pitchFamily="18" charset="0"/>
              </a:rPr>
              <a:t>: String</a:t>
            </a:r>
          </a:p>
          <a:p>
            <a:pPr eaLnBrk="0" hangingPunct="0"/>
            <a:r>
              <a:rPr lang="en-US" altLang="zh-CN" sz="1800">
                <a:latin typeface="Times New Roman" pitchFamily="18" charset="0"/>
              </a:rPr>
              <a:t> "Welcome to Java"</a:t>
            </a:r>
          </a:p>
        </p:txBody>
      </p:sp>
      <p:sp>
        <p:nvSpPr>
          <p:cNvPr id="11" name="Line 18"/>
          <p:cNvSpPr>
            <a:spLocks noChangeShapeType="1"/>
          </p:cNvSpPr>
          <p:nvPr/>
        </p:nvSpPr>
        <p:spPr bwMode="auto">
          <a:xfrm flipH="1">
            <a:off x="5399734" y="4152354"/>
            <a:ext cx="825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20"/>
          <p:cNvSpPr>
            <a:spLocks noChangeShapeType="1"/>
          </p:cNvSpPr>
          <p:nvPr/>
        </p:nvSpPr>
        <p:spPr bwMode="auto">
          <a:xfrm flipH="1">
            <a:off x="6032617" y="4468267"/>
            <a:ext cx="19261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22"/>
          <p:cNvSpPr>
            <a:spLocks noChangeShapeType="1"/>
          </p:cNvSpPr>
          <p:nvPr/>
        </p:nvSpPr>
        <p:spPr bwMode="auto">
          <a:xfrm flipH="1">
            <a:off x="5399734" y="4468268"/>
            <a:ext cx="632884" cy="898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23"/>
          <p:cNvSpPr>
            <a:spLocks noChangeShapeType="1"/>
          </p:cNvSpPr>
          <p:nvPr/>
        </p:nvSpPr>
        <p:spPr bwMode="auto">
          <a:xfrm flipH="1">
            <a:off x="6032617" y="4738142"/>
            <a:ext cx="19261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24"/>
          <p:cNvSpPr>
            <a:spLocks noChangeShapeType="1"/>
          </p:cNvSpPr>
          <p:nvPr/>
        </p:nvSpPr>
        <p:spPr bwMode="auto">
          <a:xfrm flipH="1" flipV="1">
            <a:off x="5399734" y="4288880"/>
            <a:ext cx="632884" cy="449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25"/>
          <p:cNvSpPr>
            <a:spLocks noChangeShapeType="1"/>
          </p:cNvSpPr>
          <p:nvPr/>
        </p:nvSpPr>
        <p:spPr bwMode="auto">
          <a:xfrm flipH="1">
            <a:off x="6032617" y="5008017"/>
            <a:ext cx="19261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26"/>
          <p:cNvSpPr>
            <a:spLocks noChangeShapeType="1"/>
          </p:cNvSpPr>
          <p:nvPr/>
        </p:nvSpPr>
        <p:spPr bwMode="auto">
          <a:xfrm flipH="1" flipV="1">
            <a:off x="5399734" y="4558755"/>
            <a:ext cx="632884" cy="449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TextBox 13"/>
          <p:cNvSpPr txBox="1">
            <a:spLocks noChangeArrowheads="1"/>
          </p:cNvSpPr>
          <p:nvPr/>
        </p:nvSpPr>
        <p:spPr bwMode="auto">
          <a:xfrm>
            <a:off x="1515650" y="3928518"/>
            <a:ext cx="8771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dirty="0"/>
              <a:t>常量池</a:t>
            </a:r>
          </a:p>
        </p:txBody>
      </p:sp>
      <p:sp>
        <p:nvSpPr>
          <p:cNvPr id="19" name="TextBox 14"/>
          <p:cNvSpPr txBox="1">
            <a:spLocks noChangeArrowheads="1"/>
          </p:cNvSpPr>
          <p:nvPr/>
        </p:nvSpPr>
        <p:spPr bwMode="auto">
          <a:xfrm>
            <a:off x="1515651" y="4961979"/>
            <a:ext cx="4154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/>
              <a:t>堆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92F6753-7185-41A4-AF9F-FE1478AE48DC}"/>
              </a:ext>
            </a:extLst>
          </p:cNvPr>
          <p:cNvSpPr txBox="1"/>
          <p:nvPr/>
        </p:nvSpPr>
        <p:spPr>
          <a:xfrm>
            <a:off x="1266827" y="5938578"/>
            <a:ext cx="10799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直接用字符串字面量构造的字符串在常量池里，如</a:t>
            </a:r>
            <a:r>
              <a:rPr lang="en-US" altLang="zh-CN" dirty="0">
                <a:solidFill>
                  <a:srgbClr val="FF0000"/>
                </a:solidFill>
              </a:rPr>
              <a:t>s</a:t>
            </a:r>
            <a:r>
              <a:rPr lang="zh-CN" altLang="en-US" dirty="0">
                <a:solidFill>
                  <a:srgbClr val="FF0000"/>
                </a:solidFill>
              </a:rPr>
              <a:t>。用</a:t>
            </a:r>
            <a:r>
              <a:rPr lang="en-US" altLang="zh-CN" dirty="0">
                <a:solidFill>
                  <a:srgbClr val="FF0000"/>
                </a:solidFill>
              </a:rPr>
              <a:t>new String</a:t>
            </a:r>
            <a:r>
              <a:rPr lang="zh-CN" altLang="en-US" dirty="0">
                <a:solidFill>
                  <a:srgbClr val="FF0000"/>
                </a:solidFill>
              </a:rPr>
              <a:t>方法构造的字符串在堆里，如</a:t>
            </a:r>
            <a:r>
              <a:rPr lang="en-US" altLang="zh-CN" dirty="0">
                <a:solidFill>
                  <a:srgbClr val="FF0000"/>
                </a:solidFill>
              </a:rPr>
              <a:t>s1</a:t>
            </a:r>
            <a:r>
              <a:rPr lang="zh-CN" altLang="en-US" dirty="0">
                <a:solidFill>
                  <a:srgbClr val="FF0000"/>
                </a:solidFill>
              </a:rPr>
              <a:t>。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只有字面量在常量池里</a:t>
            </a:r>
            <a:r>
              <a:rPr lang="en-US" altLang="zh-CN" dirty="0">
                <a:solidFill>
                  <a:srgbClr val="FF0000"/>
                </a:solidFill>
              </a:rPr>
              <a:t>,</a:t>
            </a:r>
            <a:r>
              <a:rPr lang="zh-CN" altLang="en-US" dirty="0">
                <a:solidFill>
                  <a:srgbClr val="FF0000"/>
                </a:solidFill>
              </a:rPr>
              <a:t>例如：</a:t>
            </a:r>
            <a:r>
              <a:rPr lang="en-US" altLang="zh-CN" dirty="0">
                <a:solidFill>
                  <a:srgbClr val="FF0000"/>
                </a:solidFill>
              </a:rPr>
              <a:t>”</a:t>
            </a:r>
            <a:r>
              <a:rPr lang="en-US" altLang="zh-CN" dirty="0" err="1">
                <a:solidFill>
                  <a:srgbClr val="FF0000"/>
                </a:solidFill>
              </a:rPr>
              <a:t>Wel</a:t>
            </a:r>
            <a:r>
              <a:rPr lang="en-US" altLang="zh-CN" dirty="0">
                <a:solidFill>
                  <a:srgbClr val="FF0000"/>
                </a:solidFill>
              </a:rPr>
              <a:t>” + “come”</a:t>
            </a:r>
            <a:r>
              <a:rPr lang="zh-CN" altLang="en-US" dirty="0">
                <a:solidFill>
                  <a:srgbClr val="FF0000"/>
                </a:solidFill>
              </a:rPr>
              <a:t>，而</a:t>
            </a:r>
            <a:r>
              <a:rPr lang="en-US" altLang="zh-CN" dirty="0">
                <a:solidFill>
                  <a:srgbClr val="FF0000"/>
                </a:solidFill>
              </a:rPr>
              <a:t>”</a:t>
            </a:r>
            <a:r>
              <a:rPr lang="en-US" altLang="zh-CN" dirty="0" err="1">
                <a:solidFill>
                  <a:srgbClr val="FF0000"/>
                </a:solidFill>
              </a:rPr>
              <a:t>Wel</a:t>
            </a:r>
            <a:r>
              <a:rPr lang="en-US" altLang="zh-CN" dirty="0">
                <a:solidFill>
                  <a:srgbClr val="FF0000"/>
                </a:solidFill>
              </a:rPr>
              <a:t>”+new String(“come”)</a:t>
            </a:r>
            <a:r>
              <a:rPr lang="zh-CN" altLang="en-US" dirty="0">
                <a:solidFill>
                  <a:srgbClr val="FF0000"/>
                </a:solidFill>
              </a:rPr>
              <a:t>不在常量池里，在堆里。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String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类对象是不可变的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54154" y="1868977"/>
            <a:ext cx="9025670" cy="1704949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字符串对象创建之后，其内容是不可修改的。</a:t>
            </a: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String s = “java”;</a:t>
            </a: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s = “HTML”;</a:t>
            </a: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String t =s; </a:t>
            </a:r>
          </a:p>
          <a:p>
            <a:pPr>
              <a:lnSpc>
                <a:spcPct val="130000"/>
              </a:lnSpc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106488" y="4041775"/>
            <a:ext cx="495300" cy="31591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dirty="0"/>
              <a:t>s</a:t>
            </a:r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22513" y="4014788"/>
            <a:ext cx="1493837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cxnSp>
        <p:nvCxnSpPr>
          <p:cNvPr id="11" name="AutoShape 7"/>
          <p:cNvCxnSpPr>
            <a:cxnSpLocks noChangeShapeType="1"/>
            <a:stCxn id="7" idx="3"/>
          </p:cNvCxnSpPr>
          <p:nvPr/>
        </p:nvCxnSpPr>
        <p:spPr bwMode="auto">
          <a:xfrm>
            <a:off x="1601788" y="4200525"/>
            <a:ext cx="720725" cy="2333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4313238" y="4117975"/>
            <a:ext cx="495300" cy="31591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/>
              <a:t>s</a:t>
            </a:r>
          </a:p>
        </p:txBody>
      </p:sp>
      <p:cxnSp>
        <p:nvCxnSpPr>
          <p:cNvPr id="14" name="AutoShape 11"/>
          <p:cNvCxnSpPr>
            <a:cxnSpLocks noChangeShapeType="1"/>
            <a:stCxn id="13" idx="3"/>
          </p:cNvCxnSpPr>
          <p:nvPr/>
        </p:nvCxnSpPr>
        <p:spPr bwMode="auto">
          <a:xfrm>
            <a:off x="4808538" y="4275932"/>
            <a:ext cx="720725" cy="99272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pic>
        <p:nvPicPr>
          <p:cNvPr id="15" name="Picture 1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29263" y="4976813"/>
            <a:ext cx="1565275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cxnSp>
        <p:nvCxnSpPr>
          <p:cNvPr id="17" name="AutoShape 11"/>
          <p:cNvCxnSpPr>
            <a:cxnSpLocks noChangeShapeType="1"/>
          </p:cNvCxnSpPr>
          <p:nvPr/>
        </p:nvCxnSpPr>
        <p:spPr bwMode="auto">
          <a:xfrm>
            <a:off x="3536181" y="3507161"/>
            <a:ext cx="0" cy="53517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" name="TextBox 17"/>
          <p:cNvSpPr txBox="1"/>
          <p:nvPr/>
        </p:nvSpPr>
        <p:spPr>
          <a:xfrm>
            <a:off x="3290584" y="3205157"/>
            <a:ext cx="5610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对象的引用次数为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zh-CN" altLang="en-US" dirty="0">
                <a:solidFill>
                  <a:srgbClr val="FF0000"/>
                </a:solidFill>
              </a:rPr>
              <a:t>，意味着可以自动进行垃圾回收了</a:t>
            </a:r>
          </a:p>
        </p:txBody>
      </p:sp>
      <p:sp>
        <p:nvSpPr>
          <p:cNvPr id="22" name="Rectangle 9"/>
          <p:cNvSpPr>
            <a:spLocks noChangeArrowheads="1"/>
          </p:cNvSpPr>
          <p:nvPr/>
        </p:nvSpPr>
        <p:spPr bwMode="auto">
          <a:xfrm>
            <a:off x="4314636" y="4983440"/>
            <a:ext cx="495300" cy="31591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dirty="0"/>
              <a:t>t</a:t>
            </a:r>
          </a:p>
        </p:txBody>
      </p:sp>
      <p:cxnSp>
        <p:nvCxnSpPr>
          <p:cNvPr id="23" name="AutoShape 11"/>
          <p:cNvCxnSpPr>
            <a:cxnSpLocks noChangeShapeType="1"/>
            <a:stCxn id="22" idx="3"/>
            <a:endCxn id="15" idx="1"/>
          </p:cNvCxnSpPr>
          <p:nvPr/>
        </p:nvCxnSpPr>
        <p:spPr bwMode="auto">
          <a:xfrm>
            <a:off x="4809936" y="5141397"/>
            <a:ext cx="719327" cy="25451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8" name="AutoShape 11"/>
          <p:cNvCxnSpPr>
            <a:cxnSpLocks noChangeShapeType="1"/>
          </p:cNvCxnSpPr>
          <p:nvPr/>
        </p:nvCxnSpPr>
        <p:spPr bwMode="auto">
          <a:xfrm flipH="1">
            <a:off x="7094538" y="5120576"/>
            <a:ext cx="323457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0" name="TextBox 29"/>
          <p:cNvSpPr txBox="1"/>
          <p:nvPr/>
        </p:nvSpPr>
        <p:spPr>
          <a:xfrm>
            <a:off x="7417995" y="4909110"/>
            <a:ext cx="2148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对象的引用次数为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3" grpId="0" animBg="1"/>
      <p:bldP spid="18" grpId="0"/>
      <p:bldP spid="22" grpId="0" animBg="1"/>
      <p:bldP spid="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字符串的比较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58728" y="1868977"/>
            <a:ext cx="10691654" cy="438235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10000"/>
              </a:lnSpc>
              <a:buFont typeface="Wingdings" pitchFamily="2" charset="2"/>
              <a:buChar char="u"/>
            </a:pPr>
            <a:r>
              <a:rPr lang="en-US" altLang="zh-CN" sz="21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equals</a:t>
            </a:r>
            <a:r>
              <a:rPr lang="zh-CN" altLang="en-US" sz="2100" dirty="0">
                <a:latin typeface="微软雅黑" pitchFamily="34" charset="-122"/>
                <a:ea typeface="微软雅黑" pitchFamily="34" charset="-122"/>
              </a:rPr>
              <a:t>方法用于比较两个字符串是否包含相同的内容（</a:t>
            </a:r>
            <a:r>
              <a:rPr lang="zh-CN" altLang="en-US" sz="21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字符序列</a:t>
            </a:r>
            <a:r>
              <a:rPr lang="zh-CN" altLang="en-US" sz="2100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2100" dirty="0">
                <a:latin typeface="微软雅黑" pitchFamily="34" charset="-122"/>
                <a:ea typeface="微软雅黑" pitchFamily="34" charset="-122"/>
              </a:rPr>
              <a:t>:</a:t>
            </a:r>
          </a:p>
          <a:p>
            <a:pPr lvl="1">
              <a:lnSpc>
                <a:spcPct val="110000"/>
              </a:lnSpc>
              <a:buFont typeface="Wingdings" pitchFamily="2" charset="2"/>
              <a:buChar char="Ø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两个字符串内容相同，返回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true</a:t>
            </a:r>
          </a:p>
          <a:p>
            <a:pPr lvl="1">
              <a:lnSpc>
                <a:spcPct val="110000"/>
              </a:lnSpc>
              <a:buFont typeface="Wingdings" pitchFamily="2" charset="2"/>
              <a:buChar char="Ø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两个字符串内容不同，返回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false</a:t>
            </a:r>
          </a:p>
          <a:p>
            <a:pPr lvl="1">
              <a:lnSpc>
                <a:spcPct val="110000"/>
              </a:lnSpc>
              <a:buFont typeface="Wingdings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比较字符串内容不能直接比较二个引用变量，比较二个引用变量只是判断这二个引用变量是否指向同一个对象（如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s1 == s2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10000"/>
              </a:lnSpc>
              <a:buFont typeface="Wingdings" pitchFamily="2" charset="2"/>
              <a:buChar char="u"/>
            </a:pPr>
            <a:r>
              <a:rPr lang="en-US" altLang="zh-CN" sz="21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equalsIgnoreCase</a:t>
            </a:r>
            <a:r>
              <a:rPr lang="zh-CN" altLang="en-US" sz="2100" dirty="0">
                <a:latin typeface="微软雅黑" pitchFamily="34" charset="-122"/>
                <a:ea typeface="微软雅黑" pitchFamily="34" charset="-122"/>
              </a:rPr>
              <a:t>忽略大小写比较内容是否相同</a:t>
            </a:r>
          </a:p>
          <a:p>
            <a:pPr>
              <a:lnSpc>
                <a:spcPct val="110000"/>
              </a:lnSpc>
              <a:buFont typeface="Wingdings" pitchFamily="2" charset="2"/>
              <a:buChar char="u"/>
            </a:pPr>
            <a:r>
              <a:rPr lang="en-US" altLang="zh-CN" sz="21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regionMatch</a:t>
            </a:r>
            <a:r>
              <a:rPr lang="zh-CN" altLang="en-US" sz="2100" dirty="0">
                <a:latin typeface="微软雅黑" pitchFamily="34" charset="-122"/>
                <a:ea typeface="微软雅黑" pitchFamily="34" charset="-122"/>
              </a:rPr>
              <a:t>比较部分内容是否相同</a:t>
            </a:r>
          </a:p>
          <a:p>
            <a:pPr>
              <a:lnSpc>
                <a:spcPct val="110000"/>
              </a:lnSpc>
              <a:buFont typeface="Wingdings" pitchFamily="2" charset="2"/>
              <a:buChar char="u"/>
            </a:pPr>
            <a:r>
              <a:rPr lang="en-US" altLang="zh-CN" sz="21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startsWith</a:t>
            </a:r>
            <a:r>
              <a:rPr lang="zh-CN" altLang="en-US" sz="2100" dirty="0">
                <a:latin typeface="微软雅黑" pitchFamily="34" charset="-122"/>
                <a:ea typeface="微软雅黑" pitchFamily="34" charset="-122"/>
              </a:rPr>
              <a:t>判断是否以某个字符串开始</a:t>
            </a:r>
          </a:p>
          <a:p>
            <a:pPr>
              <a:lnSpc>
                <a:spcPct val="110000"/>
              </a:lnSpc>
              <a:buFont typeface="Wingdings" pitchFamily="2" charset="2"/>
              <a:buChar char="u"/>
            </a:pPr>
            <a:r>
              <a:rPr lang="en-US" altLang="zh-CN" sz="21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endsWith</a:t>
            </a:r>
            <a:r>
              <a:rPr lang="zh-CN" altLang="en-US" sz="2100" dirty="0">
                <a:latin typeface="微软雅黑" pitchFamily="34" charset="-122"/>
                <a:ea typeface="微软雅黑" pitchFamily="34" charset="-122"/>
              </a:rPr>
              <a:t>判断是否以某个字符串结束</a:t>
            </a:r>
          </a:p>
          <a:p>
            <a:pPr>
              <a:lnSpc>
                <a:spcPct val="110000"/>
              </a:lnSpc>
              <a:buFont typeface="Wingdings" pitchFamily="2" charset="2"/>
              <a:buChar char="u"/>
            </a:pPr>
            <a:r>
              <a:rPr lang="en-US" altLang="zh-CN" sz="21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compareTo</a:t>
            </a:r>
            <a:r>
              <a:rPr lang="zh-CN" altLang="en-US" sz="2100" dirty="0">
                <a:latin typeface="微软雅黑" pitchFamily="34" charset="-122"/>
                <a:ea typeface="微软雅黑" pitchFamily="34" charset="-122"/>
              </a:rPr>
              <a:t>方法用于比较两个字符串的大小，即第一个不同字符的差值（字典序）。</a:t>
            </a:r>
            <a:r>
              <a:rPr lang="en-US" altLang="zh-CN" sz="2100" dirty="0">
                <a:latin typeface="微软雅黑" pitchFamily="34" charset="-122"/>
                <a:ea typeface="微软雅黑" pitchFamily="34" charset="-122"/>
              </a:rPr>
              <a:t>s1.compareTo(s2)</a:t>
            </a:r>
            <a:r>
              <a:rPr lang="zh-CN" altLang="en-US" sz="2100" dirty="0">
                <a:latin typeface="微软雅黑" pitchFamily="34" charset="-122"/>
                <a:ea typeface="微软雅黑" pitchFamily="34" charset="-122"/>
              </a:rPr>
              <a:t>的返回值</a:t>
            </a:r>
            <a:r>
              <a:rPr lang="en-US" altLang="zh-CN" sz="2100" dirty="0">
                <a:latin typeface="微软雅黑" pitchFamily="34" charset="-122"/>
                <a:ea typeface="微软雅黑" pitchFamily="34" charset="-122"/>
              </a:rPr>
              <a:t>:</a:t>
            </a:r>
          </a:p>
          <a:p>
            <a:pPr lvl="1">
              <a:lnSpc>
                <a:spcPct val="110000"/>
              </a:lnSpc>
              <a:buFont typeface="Wingdings" pitchFamily="2" charset="2"/>
              <a:buChar char="Ø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当两个字符串相同时，返回０</a:t>
            </a:r>
          </a:p>
          <a:p>
            <a:pPr lvl="1">
              <a:lnSpc>
                <a:spcPct val="110000"/>
              </a:lnSpc>
              <a:buFont typeface="Wingdings" pitchFamily="2" charset="2"/>
              <a:buChar char="Ø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当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s1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按字典排序在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s2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之前，返回小于０的值</a:t>
            </a:r>
          </a:p>
          <a:p>
            <a:pPr lvl="1">
              <a:lnSpc>
                <a:spcPct val="110000"/>
              </a:lnSpc>
              <a:buFont typeface="Wingdings" pitchFamily="2" charset="2"/>
              <a:buChar char="Ø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当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s1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按字典排序在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s2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之后，返回大于０的值</a:t>
            </a:r>
          </a:p>
          <a:p>
            <a:pPr>
              <a:lnSpc>
                <a:spcPct val="130000"/>
              </a:lnSpc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字符串的比较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658346" y="1968595"/>
            <a:ext cx="11515912" cy="4382354"/>
          </a:xfrm>
          <a:prstGeom prst="rect">
            <a:avLst/>
          </a:prstGeom>
        </p:spPr>
        <p:txBody>
          <a:bodyPr/>
          <a:lstStyle/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String s0 = "Java";</a:t>
            </a:r>
          </a:p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String s1 = "Welcome to " + s0;</a:t>
            </a:r>
          </a:p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String s2 = "Welcome to Java";</a:t>
            </a:r>
          </a:p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String s3 = "welcome to java";</a:t>
            </a:r>
          </a:p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String s6 = "Welcome to Java";</a:t>
            </a:r>
          </a:p>
          <a:p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// equals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用于比较两个字符串的内容是否相同</a:t>
            </a:r>
          </a:p>
          <a:p>
            <a:r>
              <a:rPr lang="en-US" altLang="zh-CN" sz="1600" dirty="0" err="1">
                <a:latin typeface="微软雅黑" pitchFamily="34" charset="-122"/>
                <a:ea typeface="微软雅黑" pitchFamily="34" charset="-122"/>
              </a:rPr>
              <a:t>System.out.println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("s1.equals(s2) is " + </a:t>
            </a:r>
            <a:r>
              <a:rPr lang="en-US" altLang="zh-CN" sz="1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s1.equals(s2)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); //true</a:t>
            </a:r>
          </a:p>
          <a:p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// </a:t>
            </a:r>
            <a:r>
              <a:rPr lang="en-US" altLang="zh-CN" sz="1600" dirty="0" err="1">
                <a:latin typeface="微软雅黑" pitchFamily="34" charset="-122"/>
                <a:ea typeface="微软雅黑" pitchFamily="34" charset="-122"/>
              </a:rPr>
              <a:t>equalsIgnoreCase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忽略大小写</a:t>
            </a:r>
          </a:p>
          <a:p>
            <a:r>
              <a:rPr lang="en-US" altLang="zh-CN" sz="1600" dirty="0" err="1">
                <a:latin typeface="微软雅黑" pitchFamily="34" charset="-122"/>
                <a:ea typeface="微软雅黑" pitchFamily="34" charset="-122"/>
              </a:rPr>
              <a:t>System.out.println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("s2.equals(s3) is " + s2.equals(s3)); //false</a:t>
            </a:r>
          </a:p>
          <a:p>
            <a:r>
              <a:rPr lang="en-US" altLang="zh-CN" sz="1600" dirty="0" err="1">
                <a:latin typeface="微软雅黑" pitchFamily="34" charset="-122"/>
                <a:ea typeface="微软雅黑" pitchFamily="34" charset="-122"/>
              </a:rPr>
              <a:t>System.out.println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("s2.equalsIgnoreCase(s3) is " + </a:t>
            </a:r>
            <a:r>
              <a:rPr lang="en-US" altLang="zh-CN" sz="1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s2.equalsIgnoreCase(s3)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); //true</a:t>
            </a:r>
          </a:p>
          <a:p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// </a:t>
            </a:r>
            <a:r>
              <a:rPr lang="en-US" altLang="zh-CN" sz="1600" dirty="0" err="1">
                <a:latin typeface="微软雅黑" pitchFamily="34" charset="-122"/>
                <a:ea typeface="微软雅黑" pitchFamily="34" charset="-122"/>
              </a:rPr>
              <a:t>regionMatches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比较部分字符串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: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给定两个串的起始位置和长度</a:t>
            </a:r>
          </a:p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System.out.println("s2.regionMatches(11, s0, 0, 4) is " + </a:t>
            </a:r>
            <a:r>
              <a:rPr lang="en-US" altLang="zh-CN" sz="1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s2.regionMatches(11, s0, 0, 4) 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); //true</a:t>
            </a:r>
          </a:p>
          <a:p>
            <a:r>
              <a:rPr lang="en-US" altLang="zh-CN" sz="1600" dirty="0" err="1">
                <a:latin typeface="微软雅黑" pitchFamily="34" charset="-122"/>
                <a:ea typeface="微软雅黑" pitchFamily="34" charset="-122"/>
              </a:rPr>
              <a:t>System.out.println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("s3.regionMatches(11, s0, 0, 4) is " + s3.regionMatches(11, s0, 0, 4));//false</a:t>
            </a:r>
          </a:p>
          <a:p>
            <a:r>
              <a:rPr lang="en-US" altLang="zh-CN" sz="1600" dirty="0" err="1">
                <a:latin typeface="微软雅黑" pitchFamily="34" charset="-122"/>
                <a:ea typeface="微软雅黑" pitchFamily="34" charset="-122"/>
              </a:rPr>
              <a:t>System.out.println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("s3.regionMatches(true, 11, s0, 0, 4) is " + s3.regionMatches(true, 11, s0, 0, 4));//true,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忽略大小写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字符串的比较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39068" y="1825015"/>
            <a:ext cx="10358231" cy="4382354"/>
          </a:xfrm>
          <a:prstGeom prst="rect">
            <a:avLst/>
          </a:prstGeom>
        </p:spPr>
        <p:txBody>
          <a:bodyPr/>
          <a:lstStyle/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String s0 = "Java";</a:t>
            </a:r>
          </a:p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String s1 = "Welcome to " + s0;</a:t>
            </a:r>
          </a:p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String s2 = "Welcome to Java";</a:t>
            </a:r>
          </a:p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String s3 = "welcome to java";</a:t>
            </a:r>
          </a:p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String s6 = "Welcome to Java";</a:t>
            </a:r>
          </a:p>
          <a:p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// </a:t>
            </a:r>
            <a:r>
              <a:rPr lang="en-US" altLang="zh-CN" sz="1600" dirty="0" err="1">
                <a:latin typeface="微软雅黑" pitchFamily="34" charset="-122"/>
                <a:ea typeface="微软雅黑" pitchFamily="34" charset="-122"/>
              </a:rPr>
              <a:t>startsWith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判断是否以某个字符串开始</a:t>
            </a:r>
          </a:p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// </a:t>
            </a:r>
            <a:r>
              <a:rPr lang="en-US" altLang="zh-CN" sz="1600" dirty="0" err="1">
                <a:latin typeface="微软雅黑" pitchFamily="34" charset="-122"/>
                <a:ea typeface="微软雅黑" pitchFamily="34" charset="-122"/>
              </a:rPr>
              <a:t>endsWith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判断是否以某个字符串结束</a:t>
            </a:r>
          </a:p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System.out.println("s2.startsWith(s0) is " + </a:t>
            </a:r>
            <a:r>
              <a:rPr lang="en-US" altLang="zh-CN" sz="1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s2.startsWith(s0) 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);//false</a:t>
            </a:r>
          </a:p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System.out.println("s2.endsWith(s0) is " + </a:t>
            </a:r>
            <a:r>
              <a:rPr lang="en-US" altLang="zh-CN" sz="1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s2.endsWith(s0) 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);  //true</a:t>
            </a:r>
          </a:p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        </a:t>
            </a:r>
          </a:p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// </a:t>
            </a:r>
            <a:r>
              <a:rPr lang="en-US" altLang="zh-CN" sz="1600" dirty="0" err="1">
                <a:latin typeface="微软雅黑" pitchFamily="34" charset="-122"/>
                <a:ea typeface="微软雅黑" pitchFamily="34" charset="-122"/>
              </a:rPr>
              <a:t>compareTo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根据字典排序比较两个字符串</a:t>
            </a:r>
          </a:p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String s4 = "</a:t>
            </a:r>
            <a:r>
              <a:rPr lang="en-US" altLang="zh-CN" sz="1600" dirty="0" err="1">
                <a:latin typeface="微软雅黑" pitchFamily="34" charset="-122"/>
                <a:ea typeface="微软雅黑" pitchFamily="34" charset="-122"/>
              </a:rPr>
              <a:t>abc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";</a:t>
            </a:r>
          </a:p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String s5 = "</a:t>
            </a:r>
            <a:r>
              <a:rPr lang="en-US" altLang="zh-CN" sz="1600" dirty="0" err="1">
                <a:latin typeface="微软雅黑" pitchFamily="34" charset="-122"/>
                <a:ea typeface="微软雅黑" pitchFamily="34" charset="-122"/>
              </a:rPr>
              <a:t>abe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";</a:t>
            </a:r>
          </a:p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System.out.println("s4.compareTo(s5) is " + </a:t>
            </a:r>
            <a:r>
              <a:rPr lang="en-US" altLang="zh-CN" sz="1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s4.compareTo(s5) 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);//-2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字符串长度和获取单个字符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38400" y="1825015"/>
            <a:ext cx="11473967" cy="438235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调用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length</a:t>
            </a:r>
            <a:r>
              <a:rPr lang="en-US" altLang="zh-CN" sz="2400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( )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方法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可以获取字符串的长度（不是字节数）。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marL="469900" lvl="1">
              <a:lnSpc>
                <a:spcPct val="13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例如：</a:t>
            </a:r>
          </a:p>
          <a:p>
            <a:pPr marL="469900" lvl="1">
              <a:lnSpc>
                <a:spcPct val="130000"/>
              </a:lnSpc>
            </a:pP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message.length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 )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返回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15</a:t>
            </a: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charAt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(index)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方法可以获取指定位置的字符。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index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必须在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s.length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()-1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之间。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marL="469900" lvl="1">
              <a:lnSpc>
                <a:spcPct val="13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例如：</a:t>
            </a:r>
          </a:p>
          <a:p>
            <a:pPr marL="469900" lvl="1">
              <a:lnSpc>
                <a:spcPct val="130000"/>
              </a:lnSpc>
            </a:pP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message.charAt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(0)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返回字符’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W’</a:t>
            </a:r>
          </a:p>
          <a:p>
            <a:endParaRPr lang="en-US" altLang="zh-CN" sz="2000" dirty="0">
              <a:latin typeface="宋体" charset="-122"/>
            </a:endParaRP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2272446" y="4438161"/>
            <a:ext cx="7004050" cy="1385888"/>
            <a:chOff x="1023938" y="3654425"/>
            <a:chExt cx="7004050" cy="1385888"/>
          </a:xfrm>
        </p:grpSpPr>
        <p:grpSp>
          <p:nvGrpSpPr>
            <p:cNvPr id="7" name="Group 25"/>
            <p:cNvGrpSpPr>
              <a:grpSpLocks/>
            </p:cNvGrpSpPr>
            <p:nvPr/>
          </p:nvGrpSpPr>
          <p:grpSpPr bwMode="auto">
            <a:xfrm>
              <a:off x="1798636" y="4014788"/>
              <a:ext cx="5402255" cy="360362"/>
              <a:chOff x="924" y="2529"/>
              <a:chExt cx="3403" cy="227"/>
            </a:xfrm>
          </p:grpSpPr>
          <p:sp>
            <p:nvSpPr>
              <p:cNvPr id="30" name="Rectangle 4"/>
              <p:cNvSpPr>
                <a:spLocks noChangeArrowheads="1"/>
              </p:cNvSpPr>
              <p:nvPr/>
            </p:nvSpPr>
            <p:spPr bwMode="auto">
              <a:xfrm>
                <a:off x="924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W</a:t>
                </a:r>
              </a:p>
            </p:txBody>
          </p:sp>
          <p:sp>
            <p:nvSpPr>
              <p:cNvPr id="31" name="Rectangle 5"/>
              <p:cNvSpPr>
                <a:spLocks noChangeArrowheads="1"/>
              </p:cNvSpPr>
              <p:nvPr/>
            </p:nvSpPr>
            <p:spPr bwMode="auto">
              <a:xfrm>
                <a:off x="1151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e</a:t>
                </a:r>
              </a:p>
            </p:txBody>
          </p:sp>
          <p:sp>
            <p:nvSpPr>
              <p:cNvPr id="32" name="Rectangle 6"/>
              <p:cNvSpPr>
                <a:spLocks noChangeArrowheads="1"/>
              </p:cNvSpPr>
              <p:nvPr/>
            </p:nvSpPr>
            <p:spPr bwMode="auto">
              <a:xfrm>
                <a:off x="1376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l</a:t>
                </a:r>
              </a:p>
            </p:txBody>
          </p:sp>
          <p:sp>
            <p:nvSpPr>
              <p:cNvPr id="33" name="Rectangle 7"/>
              <p:cNvSpPr>
                <a:spLocks noChangeArrowheads="1"/>
              </p:cNvSpPr>
              <p:nvPr/>
            </p:nvSpPr>
            <p:spPr bwMode="auto">
              <a:xfrm>
                <a:off x="1603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c</a:t>
                </a:r>
              </a:p>
            </p:txBody>
          </p:sp>
          <p:sp>
            <p:nvSpPr>
              <p:cNvPr id="34" name="Rectangle 8"/>
              <p:cNvSpPr>
                <a:spLocks noChangeArrowheads="1"/>
              </p:cNvSpPr>
              <p:nvPr/>
            </p:nvSpPr>
            <p:spPr bwMode="auto">
              <a:xfrm>
                <a:off x="1830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o</a:t>
                </a:r>
              </a:p>
            </p:txBody>
          </p:sp>
          <p:sp>
            <p:nvSpPr>
              <p:cNvPr id="35" name="Rectangle 9"/>
              <p:cNvSpPr>
                <a:spLocks noChangeArrowheads="1"/>
              </p:cNvSpPr>
              <p:nvPr/>
            </p:nvSpPr>
            <p:spPr bwMode="auto">
              <a:xfrm>
                <a:off x="2057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m</a:t>
                </a:r>
              </a:p>
            </p:txBody>
          </p:sp>
          <p:sp>
            <p:nvSpPr>
              <p:cNvPr id="36" name="Rectangle 10"/>
              <p:cNvSpPr>
                <a:spLocks noChangeArrowheads="1"/>
              </p:cNvSpPr>
              <p:nvPr/>
            </p:nvSpPr>
            <p:spPr bwMode="auto">
              <a:xfrm>
                <a:off x="2284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e</a:t>
                </a:r>
              </a:p>
            </p:txBody>
          </p:sp>
          <p:sp>
            <p:nvSpPr>
              <p:cNvPr id="37" name="Rectangle 11"/>
              <p:cNvSpPr>
                <a:spLocks noChangeArrowheads="1"/>
              </p:cNvSpPr>
              <p:nvPr/>
            </p:nvSpPr>
            <p:spPr bwMode="auto">
              <a:xfrm>
                <a:off x="2511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zh-CN" sz="1800"/>
              </a:p>
            </p:txBody>
          </p:sp>
          <p:sp>
            <p:nvSpPr>
              <p:cNvPr id="38" name="Rectangle 12"/>
              <p:cNvSpPr>
                <a:spLocks noChangeArrowheads="1"/>
              </p:cNvSpPr>
              <p:nvPr/>
            </p:nvSpPr>
            <p:spPr bwMode="auto">
              <a:xfrm>
                <a:off x="2738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t</a:t>
                </a:r>
              </a:p>
            </p:txBody>
          </p:sp>
          <p:sp>
            <p:nvSpPr>
              <p:cNvPr id="39" name="Rectangle 13"/>
              <p:cNvSpPr>
                <a:spLocks noChangeArrowheads="1"/>
              </p:cNvSpPr>
              <p:nvPr/>
            </p:nvSpPr>
            <p:spPr bwMode="auto">
              <a:xfrm>
                <a:off x="2965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o</a:t>
                </a:r>
              </a:p>
            </p:txBody>
          </p:sp>
          <p:sp>
            <p:nvSpPr>
              <p:cNvPr id="40" name="Rectangle 14"/>
              <p:cNvSpPr>
                <a:spLocks noChangeArrowheads="1"/>
              </p:cNvSpPr>
              <p:nvPr/>
            </p:nvSpPr>
            <p:spPr bwMode="auto">
              <a:xfrm>
                <a:off x="3192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zh-CN" sz="1800"/>
              </a:p>
            </p:txBody>
          </p:sp>
          <p:sp>
            <p:nvSpPr>
              <p:cNvPr id="41" name="Rectangle 15"/>
              <p:cNvSpPr>
                <a:spLocks noChangeArrowheads="1"/>
              </p:cNvSpPr>
              <p:nvPr/>
            </p:nvSpPr>
            <p:spPr bwMode="auto">
              <a:xfrm>
                <a:off x="3419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J</a:t>
                </a:r>
              </a:p>
            </p:txBody>
          </p:sp>
          <p:sp>
            <p:nvSpPr>
              <p:cNvPr id="42" name="Rectangle 16"/>
              <p:cNvSpPr>
                <a:spLocks noChangeArrowheads="1"/>
              </p:cNvSpPr>
              <p:nvPr/>
            </p:nvSpPr>
            <p:spPr bwMode="auto">
              <a:xfrm>
                <a:off x="3646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a</a:t>
                </a:r>
              </a:p>
            </p:txBody>
          </p:sp>
          <p:sp>
            <p:nvSpPr>
              <p:cNvPr id="43" name="Rectangle 17"/>
              <p:cNvSpPr>
                <a:spLocks noChangeArrowheads="1"/>
              </p:cNvSpPr>
              <p:nvPr/>
            </p:nvSpPr>
            <p:spPr bwMode="auto">
              <a:xfrm>
                <a:off x="3873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v</a:t>
                </a:r>
              </a:p>
            </p:txBody>
          </p:sp>
          <p:sp>
            <p:nvSpPr>
              <p:cNvPr id="44" name="Rectangle 18"/>
              <p:cNvSpPr>
                <a:spLocks noChangeArrowheads="1"/>
              </p:cNvSpPr>
              <p:nvPr/>
            </p:nvSpPr>
            <p:spPr bwMode="auto">
              <a:xfrm>
                <a:off x="4100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a</a:t>
                </a:r>
              </a:p>
            </p:txBody>
          </p:sp>
        </p:grpSp>
        <p:sp>
          <p:nvSpPr>
            <p:cNvPr id="10" name="Text Box 21"/>
            <p:cNvSpPr txBox="1">
              <a:spLocks noChangeArrowheads="1"/>
            </p:cNvSpPr>
            <p:nvPr/>
          </p:nvSpPr>
          <p:spPr bwMode="auto">
            <a:xfrm>
              <a:off x="1023938" y="4703763"/>
              <a:ext cx="191135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/>
                <a:t>message.charAt(0)</a:t>
              </a:r>
            </a:p>
          </p:txBody>
        </p:sp>
        <p:sp>
          <p:nvSpPr>
            <p:cNvPr id="11" name="Text Box 22"/>
            <p:cNvSpPr txBox="1">
              <a:spLocks noChangeArrowheads="1"/>
            </p:cNvSpPr>
            <p:nvPr/>
          </p:nvSpPr>
          <p:spPr bwMode="auto">
            <a:xfrm>
              <a:off x="6015038" y="4703763"/>
              <a:ext cx="201295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/>
                <a:t>message.charAt(14)</a:t>
              </a:r>
            </a:p>
          </p:txBody>
        </p:sp>
        <p:cxnSp>
          <p:nvCxnSpPr>
            <p:cNvPr id="12" name="AutoShape 23"/>
            <p:cNvCxnSpPr>
              <a:cxnSpLocks noChangeShapeType="1"/>
              <a:stCxn id="10" idx="0"/>
              <a:endCxn id="30" idx="2"/>
            </p:cNvCxnSpPr>
            <p:nvPr/>
          </p:nvCxnSpPr>
          <p:spPr bwMode="auto">
            <a:xfrm flipV="1">
              <a:off x="1979613" y="4375150"/>
              <a:ext cx="0" cy="3286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3" name="AutoShape 24"/>
            <p:cNvCxnSpPr>
              <a:cxnSpLocks noChangeShapeType="1"/>
              <a:stCxn id="11" idx="0"/>
              <a:endCxn id="44" idx="2"/>
            </p:cNvCxnSpPr>
            <p:nvPr/>
          </p:nvCxnSpPr>
          <p:spPr bwMode="auto">
            <a:xfrm flipV="1">
              <a:off x="7021513" y="4375150"/>
              <a:ext cx="0" cy="3286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grpSp>
          <p:nvGrpSpPr>
            <p:cNvPr id="14" name="Group 50"/>
            <p:cNvGrpSpPr>
              <a:grpSpLocks/>
            </p:cNvGrpSpPr>
            <p:nvPr/>
          </p:nvGrpSpPr>
          <p:grpSpPr bwMode="auto">
            <a:xfrm>
              <a:off x="1798636" y="3654425"/>
              <a:ext cx="5402255" cy="360363"/>
              <a:chOff x="1133" y="2302"/>
              <a:chExt cx="3403" cy="227"/>
            </a:xfrm>
          </p:grpSpPr>
          <p:sp>
            <p:nvSpPr>
              <p:cNvPr id="15" name="Rectangle 35"/>
              <p:cNvSpPr>
                <a:spLocks noChangeArrowheads="1"/>
              </p:cNvSpPr>
              <p:nvPr/>
            </p:nvSpPr>
            <p:spPr bwMode="auto">
              <a:xfrm>
                <a:off x="1133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0</a:t>
                </a:r>
              </a:p>
            </p:txBody>
          </p:sp>
          <p:sp>
            <p:nvSpPr>
              <p:cNvPr id="16" name="Rectangle 36"/>
              <p:cNvSpPr>
                <a:spLocks noChangeArrowheads="1"/>
              </p:cNvSpPr>
              <p:nvPr/>
            </p:nvSpPr>
            <p:spPr bwMode="auto">
              <a:xfrm>
                <a:off x="1360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1</a:t>
                </a:r>
              </a:p>
            </p:txBody>
          </p:sp>
          <p:sp>
            <p:nvSpPr>
              <p:cNvPr id="17" name="Rectangle 37"/>
              <p:cNvSpPr>
                <a:spLocks noChangeArrowheads="1"/>
              </p:cNvSpPr>
              <p:nvPr/>
            </p:nvSpPr>
            <p:spPr bwMode="auto">
              <a:xfrm>
                <a:off x="1585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2</a:t>
                </a:r>
              </a:p>
            </p:txBody>
          </p:sp>
          <p:sp>
            <p:nvSpPr>
              <p:cNvPr id="18" name="Rectangle 38"/>
              <p:cNvSpPr>
                <a:spLocks noChangeArrowheads="1"/>
              </p:cNvSpPr>
              <p:nvPr/>
            </p:nvSpPr>
            <p:spPr bwMode="auto">
              <a:xfrm>
                <a:off x="1812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3</a:t>
                </a:r>
              </a:p>
            </p:txBody>
          </p:sp>
          <p:sp>
            <p:nvSpPr>
              <p:cNvPr id="19" name="Rectangle 39"/>
              <p:cNvSpPr>
                <a:spLocks noChangeArrowheads="1"/>
              </p:cNvSpPr>
              <p:nvPr/>
            </p:nvSpPr>
            <p:spPr bwMode="auto">
              <a:xfrm>
                <a:off x="2039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4</a:t>
                </a:r>
              </a:p>
            </p:txBody>
          </p:sp>
          <p:sp>
            <p:nvSpPr>
              <p:cNvPr id="20" name="Rectangle 40"/>
              <p:cNvSpPr>
                <a:spLocks noChangeArrowheads="1"/>
              </p:cNvSpPr>
              <p:nvPr/>
            </p:nvSpPr>
            <p:spPr bwMode="auto">
              <a:xfrm>
                <a:off x="2266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5</a:t>
                </a:r>
              </a:p>
            </p:txBody>
          </p:sp>
          <p:sp>
            <p:nvSpPr>
              <p:cNvPr id="21" name="Rectangle 41"/>
              <p:cNvSpPr>
                <a:spLocks noChangeArrowheads="1"/>
              </p:cNvSpPr>
              <p:nvPr/>
            </p:nvSpPr>
            <p:spPr bwMode="auto">
              <a:xfrm>
                <a:off x="2493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6</a:t>
                </a:r>
              </a:p>
            </p:txBody>
          </p:sp>
          <p:sp>
            <p:nvSpPr>
              <p:cNvPr id="22" name="Rectangle 42"/>
              <p:cNvSpPr>
                <a:spLocks noChangeArrowheads="1"/>
              </p:cNvSpPr>
              <p:nvPr/>
            </p:nvSpPr>
            <p:spPr bwMode="auto">
              <a:xfrm>
                <a:off x="2720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7</a:t>
                </a:r>
              </a:p>
            </p:txBody>
          </p:sp>
          <p:sp>
            <p:nvSpPr>
              <p:cNvPr id="23" name="Rectangle 43"/>
              <p:cNvSpPr>
                <a:spLocks noChangeArrowheads="1"/>
              </p:cNvSpPr>
              <p:nvPr/>
            </p:nvSpPr>
            <p:spPr bwMode="auto">
              <a:xfrm>
                <a:off x="2947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8</a:t>
                </a:r>
              </a:p>
            </p:txBody>
          </p:sp>
          <p:sp>
            <p:nvSpPr>
              <p:cNvPr id="24" name="Rectangle 44"/>
              <p:cNvSpPr>
                <a:spLocks noChangeArrowheads="1"/>
              </p:cNvSpPr>
              <p:nvPr/>
            </p:nvSpPr>
            <p:spPr bwMode="auto">
              <a:xfrm>
                <a:off x="3174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9</a:t>
                </a:r>
              </a:p>
            </p:txBody>
          </p:sp>
          <p:sp>
            <p:nvSpPr>
              <p:cNvPr id="25" name="Rectangle 45"/>
              <p:cNvSpPr>
                <a:spLocks noChangeArrowheads="1"/>
              </p:cNvSpPr>
              <p:nvPr/>
            </p:nvSpPr>
            <p:spPr bwMode="auto">
              <a:xfrm>
                <a:off x="3401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10</a:t>
                </a:r>
              </a:p>
            </p:txBody>
          </p:sp>
          <p:sp>
            <p:nvSpPr>
              <p:cNvPr id="26" name="Rectangle 46"/>
              <p:cNvSpPr>
                <a:spLocks noChangeArrowheads="1"/>
              </p:cNvSpPr>
              <p:nvPr/>
            </p:nvSpPr>
            <p:spPr bwMode="auto">
              <a:xfrm>
                <a:off x="3628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11</a:t>
                </a:r>
              </a:p>
            </p:txBody>
          </p:sp>
          <p:sp>
            <p:nvSpPr>
              <p:cNvPr id="27" name="Rectangle 47"/>
              <p:cNvSpPr>
                <a:spLocks noChangeArrowheads="1"/>
              </p:cNvSpPr>
              <p:nvPr/>
            </p:nvSpPr>
            <p:spPr bwMode="auto">
              <a:xfrm>
                <a:off x="3855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12</a:t>
                </a:r>
              </a:p>
            </p:txBody>
          </p:sp>
          <p:sp>
            <p:nvSpPr>
              <p:cNvPr id="28" name="Rectangle 48"/>
              <p:cNvSpPr>
                <a:spLocks noChangeArrowheads="1"/>
              </p:cNvSpPr>
              <p:nvPr/>
            </p:nvSpPr>
            <p:spPr bwMode="auto">
              <a:xfrm>
                <a:off x="4082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13</a:t>
                </a:r>
              </a:p>
            </p:txBody>
          </p:sp>
          <p:sp>
            <p:nvSpPr>
              <p:cNvPr id="29" name="Rectangle 49"/>
              <p:cNvSpPr>
                <a:spLocks noChangeArrowheads="1"/>
              </p:cNvSpPr>
              <p:nvPr/>
            </p:nvSpPr>
            <p:spPr bwMode="auto">
              <a:xfrm>
                <a:off x="4309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14</a:t>
                </a:r>
              </a:p>
            </p:txBody>
          </p:sp>
        </p:grp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连接字符串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38400" y="1825015"/>
            <a:ext cx="11004183" cy="438235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concat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方法用于连接两个字符串。例如：</a:t>
            </a: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String s3 = s1.concat(s2);</a:t>
            </a: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使用加号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(+)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连接两个字符串。例如：</a:t>
            </a: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String s3 = s1 + s2;</a:t>
            </a: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s1 + s2 + s3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等价于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s1.concat(s2).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concat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(s3)</a:t>
            </a: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连接操作返回一个新的字符串：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因为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String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类型的实例内容不可修改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endParaRPr lang="en-US" altLang="zh-CN" sz="2000" dirty="0">
              <a:latin typeface="宋体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截取子串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58728" y="1825015"/>
            <a:ext cx="11504318" cy="438235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substring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用于截取字符串的一部分，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返回新字符串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lvl="1">
              <a:lnSpc>
                <a:spcPct val="130000"/>
              </a:lnSpc>
              <a:buFont typeface="Wingdings" pitchFamily="2" charset="2"/>
              <a:buChar char="Ø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public String substring(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beginIndex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endIndex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 lvl="2">
              <a:lnSpc>
                <a:spcPct val="13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返回字符串的子串。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子串从</a:t>
            </a:r>
            <a:r>
              <a:rPr lang="en-US" altLang="zh-CN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beginIndex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开始，直到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endIndex-1</a:t>
            </a:r>
          </a:p>
          <a:p>
            <a:pPr lvl="1">
              <a:lnSpc>
                <a:spcPct val="130000"/>
              </a:lnSpc>
              <a:buFont typeface="Wingdings" pitchFamily="2" charset="2"/>
              <a:buChar char="Ø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public String substring(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beginIndex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 lvl="2">
              <a:lnSpc>
                <a:spcPct val="13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返回字符串的子串。子串从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beginIndex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开始，直到字符串的结尾。</a:t>
            </a:r>
          </a:p>
          <a:p>
            <a:endParaRPr lang="en-US" altLang="zh-CN" sz="2000" dirty="0">
              <a:latin typeface="宋体" charset="-122"/>
            </a:endParaRP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1921731" y="4155587"/>
            <a:ext cx="5840412" cy="1530350"/>
            <a:chOff x="1798638" y="3654425"/>
            <a:chExt cx="5840412" cy="1530350"/>
          </a:xfrm>
        </p:grpSpPr>
        <p:grpSp>
          <p:nvGrpSpPr>
            <p:cNvPr id="7" name="Group 4"/>
            <p:cNvGrpSpPr>
              <a:grpSpLocks/>
            </p:cNvGrpSpPr>
            <p:nvPr/>
          </p:nvGrpSpPr>
          <p:grpSpPr bwMode="auto">
            <a:xfrm>
              <a:off x="1798636" y="4014788"/>
              <a:ext cx="5402255" cy="360362"/>
              <a:chOff x="924" y="2529"/>
              <a:chExt cx="3403" cy="227"/>
            </a:xfrm>
          </p:grpSpPr>
          <p:sp>
            <p:nvSpPr>
              <p:cNvPr id="32" name="Rectangle 5"/>
              <p:cNvSpPr>
                <a:spLocks noChangeArrowheads="1"/>
              </p:cNvSpPr>
              <p:nvPr/>
            </p:nvSpPr>
            <p:spPr bwMode="auto">
              <a:xfrm>
                <a:off x="924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W</a:t>
                </a:r>
              </a:p>
            </p:txBody>
          </p:sp>
          <p:sp>
            <p:nvSpPr>
              <p:cNvPr id="33" name="Rectangle 6"/>
              <p:cNvSpPr>
                <a:spLocks noChangeArrowheads="1"/>
              </p:cNvSpPr>
              <p:nvPr/>
            </p:nvSpPr>
            <p:spPr bwMode="auto">
              <a:xfrm>
                <a:off x="1151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e</a:t>
                </a:r>
              </a:p>
            </p:txBody>
          </p:sp>
          <p:sp>
            <p:nvSpPr>
              <p:cNvPr id="34" name="Rectangle 7"/>
              <p:cNvSpPr>
                <a:spLocks noChangeArrowheads="1"/>
              </p:cNvSpPr>
              <p:nvPr/>
            </p:nvSpPr>
            <p:spPr bwMode="auto">
              <a:xfrm>
                <a:off x="1376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l</a:t>
                </a:r>
              </a:p>
            </p:txBody>
          </p:sp>
          <p:sp>
            <p:nvSpPr>
              <p:cNvPr id="35" name="Rectangle 8"/>
              <p:cNvSpPr>
                <a:spLocks noChangeArrowheads="1"/>
              </p:cNvSpPr>
              <p:nvPr/>
            </p:nvSpPr>
            <p:spPr bwMode="auto">
              <a:xfrm>
                <a:off x="1603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c</a:t>
                </a:r>
              </a:p>
            </p:txBody>
          </p:sp>
          <p:sp>
            <p:nvSpPr>
              <p:cNvPr id="36" name="Rectangle 9"/>
              <p:cNvSpPr>
                <a:spLocks noChangeArrowheads="1"/>
              </p:cNvSpPr>
              <p:nvPr/>
            </p:nvSpPr>
            <p:spPr bwMode="auto">
              <a:xfrm>
                <a:off x="1830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o</a:t>
                </a:r>
              </a:p>
            </p:txBody>
          </p:sp>
          <p:sp>
            <p:nvSpPr>
              <p:cNvPr id="37" name="Rectangle 10"/>
              <p:cNvSpPr>
                <a:spLocks noChangeArrowheads="1"/>
              </p:cNvSpPr>
              <p:nvPr/>
            </p:nvSpPr>
            <p:spPr bwMode="auto">
              <a:xfrm>
                <a:off x="2057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m</a:t>
                </a:r>
              </a:p>
            </p:txBody>
          </p:sp>
          <p:sp>
            <p:nvSpPr>
              <p:cNvPr id="38" name="Rectangle 11"/>
              <p:cNvSpPr>
                <a:spLocks noChangeArrowheads="1"/>
              </p:cNvSpPr>
              <p:nvPr/>
            </p:nvSpPr>
            <p:spPr bwMode="auto">
              <a:xfrm>
                <a:off x="2284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e</a:t>
                </a:r>
              </a:p>
            </p:txBody>
          </p:sp>
          <p:sp>
            <p:nvSpPr>
              <p:cNvPr id="39" name="Rectangle 12"/>
              <p:cNvSpPr>
                <a:spLocks noChangeArrowheads="1"/>
              </p:cNvSpPr>
              <p:nvPr/>
            </p:nvSpPr>
            <p:spPr bwMode="auto">
              <a:xfrm>
                <a:off x="2511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zh-CN" sz="1800"/>
              </a:p>
            </p:txBody>
          </p:sp>
          <p:sp>
            <p:nvSpPr>
              <p:cNvPr id="40" name="Rectangle 13"/>
              <p:cNvSpPr>
                <a:spLocks noChangeArrowheads="1"/>
              </p:cNvSpPr>
              <p:nvPr/>
            </p:nvSpPr>
            <p:spPr bwMode="auto">
              <a:xfrm>
                <a:off x="2738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t</a:t>
                </a:r>
              </a:p>
            </p:txBody>
          </p:sp>
          <p:sp>
            <p:nvSpPr>
              <p:cNvPr id="41" name="Rectangle 14"/>
              <p:cNvSpPr>
                <a:spLocks noChangeArrowheads="1"/>
              </p:cNvSpPr>
              <p:nvPr/>
            </p:nvSpPr>
            <p:spPr bwMode="auto">
              <a:xfrm>
                <a:off x="2965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o</a:t>
                </a:r>
              </a:p>
            </p:txBody>
          </p:sp>
          <p:sp>
            <p:nvSpPr>
              <p:cNvPr id="42" name="Rectangle 15"/>
              <p:cNvSpPr>
                <a:spLocks noChangeArrowheads="1"/>
              </p:cNvSpPr>
              <p:nvPr/>
            </p:nvSpPr>
            <p:spPr bwMode="auto">
              <a:xfrm>
                <a:off x="3192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zh-CN" sz="1800"/>
              </a:p>
            </p:txBody>
          </p:sp>
          <p:sp>
            <p:nvSpPr>
              <p:cNvPr id="43" name="Rectangle 16"/>
              <p:cNvSpPr>
                <a:spLocks noChangeArrowheads="1"/>
              </p:cNvSpPr>
              <p:nvPr/>
            </p:nvSpPr>
            <p:spPr bwMode="auto">
              <a:xfrm>
                <a:off x="3419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J</a:t>
                </a:r>
              </a:p>
            </p:txBody>
          </p:sp>
          <p:sp>
            <p:nvSpPr>
              <p:cNvPr id="44" name="Rectangle 17"/>
              <p:cNvSpPr>
                <a:spLocks noChangeArrowheads="1"/>
              </p:cNvSpPr>
              <p:nvPr/>
            </p:nvSpPr>
            <p:spPr bwMode="auto">
              <a:xfrm>
                <a:off x="3646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a</a:t>
                </a:r>
              </a:p>
            </p:txBody>
          </p:sp>
          <p:sp>
            <p:nvSpPr>
              <p:cNvPr id="45" name="Rectangle 18"/>
              <p:cNvSpPr>
                <a:spLocks noChangeArrowheads="1"/>
              </p:cNvSpPr>
              <p:nvPr/>
            </p:nvSpPr>
            <p:spPr bwMode="auto">
              <a:xfrm>
                <a:off x="3873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v</a:t>
                </a:r>
              </a:p>
            </p:txBody>
          </p:sp>
          <p:sp>
            <p:nvSpPr>
              <p:cNvPr id="46" name="Rectangle 19"/>
              <p:cNvSpPr>
                <a:spLocks noChangeArrowheads="1"/>
              </p:cNvSpPr>
              <p:nvPr/>
            </p:nvSpPr>
            <p:spPr bwMode="auto">
              <a:xfrm>
                <a:off x="4100" y="2529"/>
                <a:ext cx="227" cy="22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1800"/>
                  <a:t>a</a:t>
                </a:r>
              </a:p>
            </p:txBody>
          </p:sp>
        </p:grpSp>
        <p:grpSp>
          <p:nvGrpSpPr>
            <p:cNvPr id="10" name="Group 20"/>
            <p:cNvGrpSpPr>
              <a:grpSpLocks/>
            </p:cNvGrpSpPr>
            <p:nvPr/>
          </p:nvGrpSpPr>
          <p:grpSpPr bwMode="auto">
            <a:xfrm>
              <a:off x="1798636" y="3654425"/>
              <a:ext cx="5402255" cy="360363"/>
              <a:chOff x="1133" y="2302"/>
              <a:chExt cx="3403" cy="227"/>
            </a:xfrm>
          </p:grpSpPr>
          <p:sp>
            <p:nvSpPr>
              <p:cNvPr id="17" name="Rectangle 21"/>
              <p:cNvSpPr>
                <a:spLocks noChangeArrowheads="1"/>
              </p:cNvSpPr>
              <p:nvPr/>
            </p:nvSpPr>
            <p:spPr bwMode="auto">
              <a:xfrm>
                <a:off x="1133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0</a:t>
                </a:r>
              </a:p>
            </p:txBody>
          </p:sp>
          <p:sp>
            <p:nvSpPr>
              <p:cNvPr id="18" name="Rectangle 22"/>
              <p:cNvSpPr>
                <a:spLocks noChangeArrowheads="1"/>
              </p:cNvSpPr>
              <p:nvPr/>
            </p:nvSpPr>
            <p:spPr bwMode="auto">
              <a:xfrm>
                <a:off x="1360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1</a:t>
                </a:r>
              </a:p>
            </p:txBody>
          </p:sp>
          <p:sp>
            <p:nvSpPr>
              <p:cNvPr id="19" name="Rectangle 23"/>
              <p:cNvSpPr>
                <a:spLocks noChangeArrowheads="1"/>
              </p:cNvSpPr>
              <p:nvPr/>
            </p:nvSpPr>
            <p:spPr bwMode="auto">
              <a:xfrm>
                <a:off x="1585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2</a:t>
                </a:r>
              </a:p>
            </p:txBody>
          </p:sp>
          <p:sp>
            <p:nvSpPr>
              <p:cNvPr id="20" name="Rectangle 24"/>
              <p:cNvSpPr>
                <a:spLocks noChangeArrowheads="1"/>
              </p:cNvSpPr>
              <p:nvPr/>
            </p:nvSpPr>
            <p:spPr bwMode="auto">
              <a:xfrm>
                <a:off x="1812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3</a:t>
                </a:r>
              </a:p>
            </p:txBody>
          </p:sp>
          <p:sp>
            <p:nvSpPr>
              <p:cNvPr id="21" name="Rectangle 25"/>
              <p:cNvSpPr>
                <a:spLocks noChangeArrowheads="1"/>
              </p:cNvSpPr>
              <p:nvPr/>
            </p:nvSpPr>
            <p:spPr bwMode="auto">
              <a:xfrm>
                <a:off x="2039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4</a:t>
                </a:r>
              </a:p>
            </p:txBody>
          </p:sp>
          <p:sp>
            <p:nvSpPr>
              <p:cNvPr id="22" name="Rectangle 26"/>
              <p:cNvSpPr>
                <a:spLocks noChangeArrowheads="1"/>
              </p:cNvSpPr>
              <p:nvPr/>
            </p:nvSpPr>
            <p:spPr bwMode="auto">
              <a:xfrm>
                <a:off x="2266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5</a:t>
                </a:r>
              </a:p>
            </p:txBody>
          </p:sp>
          <p:sp>
            <p:nvSpPr>
              <p:cNvPr id="23" name="Rectangle 27"/>
              <p:cNvSpPr>
                <a:spLocks noChangeArrowheads="1"/>
              </p:cNvSpPr>
              <p:nvPr/>
            </p:nvSpPr>
            <p:spPr bwMode="auto">
              <a:xfrm>
                <a:off x="2493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6</a:t>
                </a:r>
              </a:p>
            </p:txBody>
          </p:sp>
          <p:sp>
            <p:nvSpPr>
              <p:cNvPr id="24" name="Rectangle 28"/>
              <p:cNvSpPr>
                <a:spLocks noChangeArrowheads="1"/>
              </p:cNvSpPr>
              <p:nvPr/>
            </p:nvSpPr>
            <p:spPr bwMode="auto">
              <a:xfrm>
                <a:off x="2720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7</a:t>
                </a:r>
              </a:p>
            </p:txBody>
          </p:sp>
          <p:sp>
            <p:nvSpPr>
              <p:cNvPr id="25" name="Rectangle 29"/>
              <p:cNvSpPr>
                <a:spLocks noChangeArrowheads="1"/>
              </p:cNvSpPr>
              <p:nvPr/>
            </p:nvSpPr>
            <p:spPr bwMode="auto">
              <a:xfrm>
                <a:off x="2947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8</a:t>
                </a:r>
              </a:p>
            </p:txBody>
          </p:sp>
          <p:sp>
            <p:nvSpPr>
              <p:cNvPr id="26" name="Rectangle 30"/>
              <p:cNvSpPr>
                <a:spLocks noChangeArrowheads="1"/>
              </p:cNvSpPr>
              <p:nvPr/>
            </p:nvSpPr>
            <p:spPr bwMode="auto">
              <a:xfrm>
                <a:off x="3174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9</a:t>
                </a:r>
              </a:p>
            </p:txBody>
          </p:sp>
          <p:sp>
            <p:nvSpPr>
              <p:cNvPr id="27" name="Rectangle 31"/>
              <p:cNvSpPr>
                <a:spLocks noChangeArrowheads="1"/>
              </p:cNvSpPr>
              <p:nvPr/>
            </p:nvSpPr>
            <p:spPr bwMode="auto">
              <a:xfrm>
                <a:off x="3401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10</a:t>
                </a:r>
              </a:p>
            </p:txBody>
          </p:sp>
          <p:sp>
            <p:nvSpPr>
              <p:cNvPr id="28" name="Rectangle 32"/>
              <p:cNvSpPr>
                <a:spLocks noChangeArrowheads="1"/>
              </p:cNvSpPr>
              <p:nvPr/>
            </p:nvSpPr>
            <p:spPr bwMode="auto">
              <a:xfrm>
                <a:off x="3628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11</a:t>
                </a:r>
              </a:p>
            </p:txBody>
          </p:sp>
          <p:sp>
            <p:nvSpPr>
              <p:cNvPr id="29" name="Rectangle 33"/>
              <p:cNvSpPr>
                <a:spLocks noChangeArrowheads="1"/>
              </p:cNvSpPr>
              <p:nvPr/>
            </p:nvSpPr>
            <p:spPr bwMode="auto">
              <a:xfrm>
                <a:off x="3855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12</a:t>
                </a:r>
              </a:p>
            </p:txBody>
          </p:sp>
          <p:sp>
            <p:nvSpPr>
              <p:cNvPr id="30" name="Rectangle 34"/>
              <p:cNvSpPr>
                <a:spLocks noChangeArrowheads="1"/>
              </p:cNvSpPr>
              <p:nvPr/>
            </p:nvSpPr>
            <p:spPr bwMode="auto">
              <a:xfrm>
                <a:off x="4082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13</a:t>
                </a:r>
              </a:p>
            </p:txBody>
          </p:sp>
          <p:sp>
            <p:nvSpPr>
              <p:cNvPr id="31" name="Rectangle 35"/>
              <p:cNvSpPr>
                <a:spLocks noChangeArrowheads="1"/>
              </p:cNvSpPr>
              <p:nvPr/>
            </p:nvSpPr>
            <p:spPr bwMode="auto">
              <a:xfrm>
                <a:off x="4309" y="2302"/>
                <a:ext cx="227" cy="22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14</a:t>
                </a:r>
              </a:p>
            </p:txBody>
          </p:sp>
        </p:grpSp>
        <p:cxnSp>
          <p:nvCxnSpPr>
            <p:cNvPr id="11" name="AutoShape 36"/>
            <p:cNvCxnSpPr>
              <a:cxnSpLocks noChangeShapeType="1"/>
              <a:stCxn id="32" idx="2"/>
              <a:endCxn id="42" idx="2"/>
            </p:cNvCxnSpPr>
            <p:nvPr/>
          </p:nvCxnSpPr>
          <p:spPr bwMode="auto">
            <a:xfrm rot="16200000" flipH="1">
              <a:off x="3779044" y="2575719"/>
              <a:ext cx="1588" cy="3600450"/>
            </a:xfrm>
            <a:prstGeom prst="bentConnector3">
              <a:avLst>
                <a:gd name="adj1" fmla="val 14300005"/>
              </a:avLst>
            </a:pr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</p:spPr>
        </p:cxnSp>
        <p:cxnSp>
          <p:nvCxnSpPr>
            <p:cNvPr id="12" name="AutoShape 37"/>
            <p:cNvCxnSpPr>
              <a:cxnSpLocks noChangeShapeType="1"/>
              <a:stCxn id="43" idx="2"/>
              <a:endCxn id="46" idx="2"/>
            </p:cNvCxnSpPr>
            <p:nvPr/>
          </p:nvCxnSpPr>
          <p:spPr bwMode="auto">
            <a:xfrm rot="16200000" flipH="1">
              <a:off x="6480175" y="3835400"/>
              <a:ext cx="1588" cy="1081088"/>
            </a:xfrm>
            <a:prstGeom prst="bentConnector3">
              <a:avLst>
                <a:gd name="adj1" fmla="val 14300005"/>
              </a:avLst>
            </a:pr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</p:spPr>
        </p:cxnSp>
        <p:sp>
          <p:nvSpPr>
            <p:cNvPr id="13" name="Text Box 38"/>
            <p:cNvSpPr txBox="1">
              <a:spLocks noChangeArrowheads="1"/>
            </p:cNvSpPr>
            <p:nvPr/>
          </p:nvSpPr>
          <p:spPr bwMode="auto">
            <a:xfrm>
              <a:off x="2398713" y="4848225"/>
              <a:ext cx="262255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/>
                <a:t>message.substring(0, 11)</a:t>
              </a:r>
            </a:p>
          </p:txBody>
        </p:sp>
        <p:sp>
          <p:nvSpPr>
            <p:cNvPr id="14" name="Text Box 39"/>
            <p:cNvSpPr txBox="1">
              <a:spLocks noChangeArrowheads="1"/>
            </p:cNvSpPr>
            <p:nvPr/>
          </p:nvSpPr>
          <p:spPr bwMode="auto">
            <a:xfrm>
              <a:off x="5321300" y="4848225"/>
              <a:ext cx="231775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/>
                <a:t>message.substring(11)</a:t>
              </a:r>
            </a:p>
          </p:txBody>
        </p:sp>
        <p:sp>
          <p:nvSpPr>
            <p:cNvPr id="15" name="Line 41"/>
            <p:cNvSpPr>
              <a:spLocks noChangeShapeType="1"/>
            </p:cNvSpPr>
            <p:nvPr/>
          </p:nvSpPr>
          <p:spPr bwMode="auto">
            <a:xfrm flipV="1">
              <a:off x="3597275" y="4598988"/>
              <a:ext cx="0" cy="2492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42"/>
            <p:cNvSpPr>
              <a:spLocks noChangeShapeType="1"/>
            </p:cNvSpPr>
            <p:nvPr/>
          </p:nvSpPr>
          <p:spPr bwMode="auto">
            <a:xfrm flipV="1">
              <a:off x="6462713" y="4598988"/>
              <a:ext cx="0" cy="2492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字符串转换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30012" y="1825015"/>
            <a:ext cx="11381688" cy="4047279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toLowerCase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将字符串转换成小写形式，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得到新串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toUpperCase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将字符串转换成大写形式，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得到新串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trim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删除两端的空格，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得到新串</a:t>
            </a: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replace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字符替换，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得到新串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2000" dirty="0">
              <a:latin typeface="宋体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字符串转换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58728" y="1825015"/>
            <a:ext cx="11504318" cy="4382354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String s0 = "Java";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String s1 = " Welcome to Java ";</a:t>
            </a: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//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toLowerCase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将字符串转换成小写形式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System.out.println("s1.toLowerCase() is " + 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s1.toLowerCase()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);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    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//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toUpperCase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将字符串转换成大写形式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System.out.println("s1.toUpperCase() is " + 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s1.toUpperCase()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);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    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// trim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删除两端的空格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System.out.println("s1.trim() is " + s1.trim( ) );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    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// replace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字符替换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System.out.println(“s1.replace(s0, \”HTML\“) is ” + 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s1.replace(s0, “HTML”)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); //Welcome to HTML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查找字符或字符串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58728" y="1825015"/>
            <a:ext cx="10766410" cy="438235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lang="en-US" altLang="zh-CN" sz="2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indexOf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返回字符串中字符或字符串匹配的位置，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返回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-1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表示未找到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"Welcome to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Java".indexOf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('W') returns 0.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"Welcome to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Java".indexOf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('x') returns -1.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"Welcome to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Java".indexOf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('o‘,5) returns 9.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"Welcome to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Java".indexOf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("come") returns 3.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"Welcome to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Java".indexOf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("Java", 5) returns 11.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"Welcome to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Java".indexOf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("java", 5) returns -1.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"Welcome to Java".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lastIndexOf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('a') returns 14.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字符数组和字符串间的转换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58728" y="1825015"/>
            <a:ext cx="10514740" cy="438235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toCharArray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将字符串转换成字符数组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String s = “Java”;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	char[ ]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charArray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=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s.toCharArray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 );//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charArray.length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=4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将字符数组转换成字符串</a:t>
            </a:r>
          </a:p>
          <a:p>
            <a:pPr lvl="1">
              <a:lnSpc>
                <a:spcPct val="140000"/>
              </a:lnSpc>
              <a:buFont typeface="Wingdings" pitchFamily="2" charset="2"/>
              <a:buChar char="Ø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String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的构造函数，可同时初始化</a:t>
            </a:r>
          </a:p>
          <a:p>
            <a:pPr lvl="1">
              <a:lnSpc>
                <a:spcPct val="14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new String(</a:t>
            </a:r>
            <a:r>
              <a:rPr lang="en-US" altLang="zh-CN" sz="2000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new char[ ] {‘J’,</a:t>
            </a:r>
            <a:r>
              <a:rPr lang="zh-CN" altLang="en-US" sz="2000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‘</a:t>
            </a:r>
            <a:r>
              <a:rPr lang="en-US" altLang="zh-CN" sz="2000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a’,</a:t>
            </a:r>
            <a:r>
              <a:rPr lang="zh-CN" altLang="en-US" sz="2000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‘</a:t>
            </a:r>
            <a:r>
              <a:rPr lang="en-US" altLang="zh-CN" sz="2000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v’,</a:t>
            </a:r>
            <a:r>
              <a:rPr lang="zh-CN" altLang="en-US" sz="2000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‘</a:t>
            </a:r>
            <a:r>
              <a:rPr lang="en-US" altLang="zh-CN" sz="2000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a’}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);</a:t>
            </a:r>
          </a:p>
          <a:p>
            <a:pPr lvl="1">
              <a:lnSpc>
                <a:spcPct val="140000"/>
              </a:lnSpc>
              <a:buFont typeface="Wingdings" pitchFamily="2" charset="2"/>
              <a:buChar char="Ø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valueOf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方法：静态方法</a:t>
            </a:r>
          </a:p>
          <a:p>
            <a:pPr lvl="1">
              <a:lnSpc>
                <a:spcPct val="14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String.valueOf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 new char[ ] {‘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J’,‘a’,‘v’,‘a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’} );</a:t>
            </a:r>
          </a:p>
          <a:p>
            <a:pPr marL="0" lvl="1">
              <a:lnSpc>
                <a:spcPct val="14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String.valueOf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(2.34);  //2.34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转“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2.34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”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基本数据类型和字符串间的转换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29343" y="1825015"/>
            <a:ext cx="11733703" cy="4382354"/>
          </a:xfrm>
          <a:prstGeom prst="rect">
            <a:avLst/>
          </a:prstGeom>
        </p:spPr>
        <p:txBody>
          <a:bodyPr/>
          <a:lstStyle/>
          <a:p>
            <a:pPr marL="476250" indent="-476250">
              <a:lnSpc>
                <a:spcPct val="130000"/>
              </a:lnSpc>
              <a:buFont typeface="Wingdings" pitchFamily="2" charset="2"/>
              <a:buChar char="u"/>
              <a:defRPr/>
            </a:pP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valueOf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方法将基本数据类型转换为字符串。例如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	String s1 =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String.valueOf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(1.0);  //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“１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.0”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	String s2 =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String.valueOf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(true); //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true”</a:t>
            </a:r>
          </a:p>
          <a:p>
            <a:pPr marL="476250" indent="-476250">
              <a:lnSpc>
                <a:spcPct val="130000"/>
              </a:lnSpc>
              <a:buFont typeface="Wingdings" pitchFamily="2" charset="2"/>
              <a:buChar char="u"/>
              <a:defRPr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字符串转换为基本类型：利用包装类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Double.parseDouble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str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Integer.parseInt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str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Boolean.parseBoolean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str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例子 判断回文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39068" y="1825015"/>
            <a:ext cx="10142295" cy="4668064"/>
          </a:xfrm>
          <a:prstGeom prst="rect">
            <a:avLst/>
          </a:prstGeom>
        </p:spPr>
        <p:txBody>
          <a:bodyPr/>
          <a:lstStyle/>
          <a:p>
            <a:pPr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回文是指顺读和倒读都一样的词语。例如“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mom”,  “dad”, ”noon”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都是回文。编写程序，判断一个字符串是否是回文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public class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CheckPalindrome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{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public static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boolean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isPalindrome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(String s) {		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// The index of the first character in the string		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low = 0;		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// The index of the last character in the string		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high =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s.length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 ) - 1;		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while (low &lt; high) {			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	if 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s.charAt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(low) !=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s.charAt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(high)) return false; // Not a palindrome	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	low++;			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	high--;		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}		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return true; // The string is a palindrome	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}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}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7110832" y="2861565"/>
            <a:ext cx="3615439" cy="1360493"/>
            <a:chOff x="7589005" y="2878343"/>
            <a:chExt cx="3615439" cy="1360493"/>
          </a:xfrm>
        </p:grpSpPr>
        <p:cxnSp>
          <p:nvCxnSpPr>
            <p:cNvPr id="48" name="AutoShape 11"/>
            <p:cNvCxnSpPr>
              <a:cxnSpLocks noChangeShapeType="1"/>
            </p:cNvCxnSpPr>
            <p:nvPr/>
          </p:nvCxnSpPr>
          <p:spPr bwMode="auto">
            <a:xfrm>
              <a:off x="10831588" y="3278519"/>
              <a:ext cx="0" cy="30847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grpSp>
          <p:nvGrpSpPr>
            <p:cNvPr id="52" name="组合 51"/>
            <p:cNvGrpSpPr/>
            <p:nvPr/>
          </p:nvGrpSpPr>
          <p:grpSpPr>
            <a:xfrm>
              <a:off x="7589005" y="2878343"/>
              <a:ext cx="3615439" cy="1360493"/>
              <a:chOff x="7556736" y="3021327"/>
              <a:chExt cx="3615439" cy="1360493"/>
            </a:xfrm>
          </p:grpSpPr>
          <p:grpSp>
            <p:nvGrpSpPr>
              <p:cNvPr id="6" name="组合 5"/>
              <p:cNvGrpSpPr>
                <a:grpSpLocks/>
              </p:cNvGrpSpPr>
              <p:nvPr/>
            </p:nvGrpSpPr>
            <p:grpSpPr bwMode="auto">
              <a:xfrm>
                <a:off x="7676016" y="3661095"/>
                <a:ext cx="3496159" cy="720725"/>
                <a:chOff x="1798636" y="3654425"/>
                <a:chExt cx="2519359" cy="720725"/>
              </a:xfrm>
            </p:grpSpPr>
            <p:grpSp>
              <p:nvGrpSpPr>
                <p:cNvPr id="7" name="Group 4"/>
                <p:cNvGrpSpPr>
                  <a:grpSpLocks/>
                </p:cNvGrpSpPr>
                <p:nvPr/>
              </p:nvGrpSpPr>
              <p:grpSpPr bwMode="auto">
                <a:xfrm>
                  <a:off x="1798636" y="4014788"/>
                  <a:ext cx="2519359" cy="360362"/>
                  <a:chOff x="924" y="2529"/>
                  <a:chExt cx="1587" cy="227"/>
                </a:xfrm>
              </p:grpSpPr>
              <p:sp>
                <p:nvSpPr>
                  <p:cNvPr id="32" name="Rectangle 5"/>
                  <p:cNvSpPr>
                    <a:spLocks noChangeArrowheads="1"/>
                  </p:cNvSpPr>
                  <p:nvPr/>
                </p:nvSpPr>
                <p:spPr bwMode="auto">
                  <a:xfrm>
                    <a:off x="924" y="2529"/>
                    <a:ext cx="227" cy="227"/>
                  </a:xfrm>
                  <a:prstGeom prst="rect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r>
                      <a:rPr lang="zh-CN" altLang="en-US" dirty="0"/>
                      <a:t>雪</a:t>
                    </a:r>
                    <a:endParaRPr lang="en-US" altLang="zh-CN" sz="1800" dirty="0"/>
                  </a:p>
                </p:txBody>
              </p:sp>
              <p:sp>
                <p:nvSpPr>
                  <p:cNvPr id="33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1151" y="2529"/>
                    <a:ext cx="227" cy="227"/>
                  </a:xfrm>
                  <a:prstGeom prst="rect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r>
                      <a:rPr lang="zh-CN" altLang="en-US" sz="1800" dirty="0"/>
                      <a:t>落</a:t>
                    </a:r>
                    <a:endParaRPr lang="en-US" altLang="zh-CN" sz="1800" dirty="0"/>
                  </a:p>
                </p:txBody>
              </p:sp>
              <p:sp>
                <p:nvSpPr>
                  <p:cNvPr id="34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1376" y="2529"/>
                    <a:ext cx="227" cy="227"/>
                  </a:xfrm>
                  <a:prstGeom prst="rect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r>
                      <a:rPr lang="zh-CN" altLang="en-US" sz="1800" dirty="0"/>
                      <a:t>桂</a:t>
                    </a:r>
                    <a:endParaRPr lang="en-US" altLang="zh-CN" sz="1800" dirty="0"/>
                  </a:p>
                </p:txBody>
              </p:sp>
              <p:sp>
                <p:nvSpPr>
                  <p:cNvPr id="35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1603" y="2529"/>
                    <a:ext cx="227" cy="227"/>
                  </a:xfrm>
                  <a:prstGeom prst="rect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r>
                      <a:rPr lang="zh-CN" altLang="en-US" dirty="0"/>
                      <a:t>花</a:t>
                    </a:r>
                    <a:endParaRPr lang="en-US" altLang="zh-CN" sz="1800" dirty="0"/>
                  </a:p>
                </p:txBody>
              </p:sp>
              <p:sp>
                <p:nvSpPr>
                  <p:cNvPr id="36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1830" y="2529"/>
                    <a:ext cx="227" cy="227"/>
                  </a:xfrm>
                  <a:prstGeom prst="rect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r>
                      <a:rPr lang="zh-CN" altLang="en-US" dirty="0"/>
                      <a:t>桂</a:t>
                    </a:r>
                    <a:endParaRPr lang="en-US" altLang="zh-CN" dirty="0"/>
                  </a:p>
                </p:txBody>
              </p:sp>
              <p:sp>
                <p:nvSpPr>
                  <p:cNvPr id="37" name="Rectangle 10"/>
                  <p:cNvSpPr>
                    <a:spLocks noChangeArrowheads="1"/>
                  </p:cNvSpPr>
                  <p:nvPr/>
                </p:nvSpPr>
                <p:spPr bwMode="auto">
                  <a:xfrm>
                    <a:off x="2057" y="2529"/>
                    <a:ext cx="227" cy="227"/>
                  </a:xfrm>
                  <a:prstGeom prst="rect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r>
                      <a:rPr lang="zh-CN" altLang="en-US" dirty="0"/>
                      <a:t>落</a:t>
                    </a:r>
                    <a:endParaRPr lang="en-US" altLang="zh-CN" dirty="0"/>
                  </a:p>
                </p:txBody>
              </p:sp>
              <p:sp>
                <p:nvSpPr>
                  <p:cNvPr id="38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2284" y="2529"/>
                    <a:ext cx="227" cy="227"/>
                  </a:xfrm>
                  <a:prstGeom prst="rect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r>
                      <a:rPr lang="zh-CN" altLang="en-US" dirty="0"/>
                      <a:t>雪</a:t>
                    </a:r>
                    <a:endParaRPr lang="en-US" altLang="zh-CN" dirty="0"/>
                  </a:p>
                </p:txBody>
              </p:sp>
            </p:grpSp>
            <p:grpSp>
              <p:nvGrpSpPr>
                <p:cNvPr id="10" name="Group 20"/>
                <p:cNvGrpSpPr>
                  <a:grpSpLocks/>
                </p:cNvGrpSpPr>
                <p:nvPr/>
              </p:nvGrpSpPr>
              <p:grpSpPr bwMode="auto">
                <a:xfrm>
                  <a:off x="1798636" y="3654425"/>
                  <a:ext cx="2519359" cy="360363"/>
                  <a:chOff x="1133" y="2302"/>
                  <a:chExt cx="1587" cy="227"/>
                </a:xfrm>
              </p:grpSpPr>
              <p:sp>
                <p:nvSpPr>
                  <p:cNvPr id="17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1133" y="2302"/>
                    <a:ext cx="227" cy="227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r>
                      <a:rPr lang="en-US" altLang="zh-CN"/>
                      <a:t>0</a:t>
                    </a:r>
                  </a:p>
                </p:txBody>
              </p:sp>
              <p:sp>
                <p:nvSpPr>
                  <p:cNvPr id="18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1360" y="2302"/>
                    <a:ext cx="227" cy="227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r>
                      <a:rPr lang="en-US" altLang="zh-CN"/>
                      <a:t>1</a:t>
                    </a:r>
                  </a:p>
                </p:txBody>
              </p:sp>
              <p:sp>
                <p:nvSpPr>
                  <p:cNvPr id="19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1585" y="2302"/>
                    <a:ext cx="227" cy="227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r>
                      <a:rPr lang="en-US" altLang="zh-CN"/>
                      <a:t>2</a:t>
                    </a:r>
                  </a:p>
                </p:txBody>
              </p:sp>
              <p:sp>
                <p:nvSpPr>
                  <p:cNvPr id="20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1812" y="2302"/>
                    <a:ext cx="227" cy="227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r>
                      <a:rPr lang="en-US" altLang="zh-CN"/>
                      <a:t>3</a:t>
                    </a:r>
                  </a:p>
                </p:txBody>
              </p:sp>
              <p:sp>
                <p:nvSpPr>
                  <p:cNvPr id="21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2039" y="2302"/>
                    <a:ext cx="227" cy="227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r>
                      <a:rPr lang="en-US" altLang="zh-CN" dirty="0"/>
                      <a:t>4</a:t>
                    </a:r>
                  </a:p>
                </p:txBody>
              </p:sp>
              <p:sp>
                <p:nvSpPr>
                  <p:cNvPr id="22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2266" y="2302"/>
                    <a:ext cx="227" cy="227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r>
                      <a:rPr lang="en-US" altLang="zh-CN"/>
                      <a:t>5</a:t>
                    </a:r>
                  </a:p>
                </p:txBody>
              </p:sp>
              <p:sp>
                <p:nvSpPr>
                  <p:cNvPr id="23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2493" y="2302"/>
                    <a:ext cx="227" cy="227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r>
                      <a:rPr lang="en-US" altLang="zh-CN" dirty="0"/>
                      <a:t>6</a:t>
                    </a:r>
                  </a:p>
                </p:txBody>
              </p:sp>
            </p:grpSp>
          </p:grpSp>
          <p:cxnSp>
            <p:nvCxnSpPr>
              <p:cNvPr id="47" name="AutoShape 11"/>
              <p:cNvCxnSpPr>
                <a:cxnSpLocks noChangeShapeType="1"/>
              </p:cNvCxnSpPr>
              <p:nvPr/>
            </p:nvCxnSpPr>
            <p:spPr bwMode="auto">
              <a:xfrm>
                <a:off x="7818539" y="3394567"/>
                <a:ext cx="0" cy="308473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4" name="TextBox 3"/>
              <p:cNvSpPr txBox="1"/>
              <p:nvPr/>
            </p:nvSpPr>
            <p:spPr>
              <a:xfrm>
                <a:off x="10536475" y="3029716"/>
                <a:ext cx="5902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high</a:t>
                </a:r>
                <a:endParaRPr lang="zh-CN" altLang="en-US" dirty="0"/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7556736" y="3021327"/>
                <a:ext cx="5236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low</a:t>
                </a:r>
                <a:endParaRPr lang="zh-CN" altLang="en-US" dirty="0"/>
              </a:p>
            </p:txBody>
          </p:sp>
          <p:cxnSp>
            <p:nvCxnSpPr>
              <p:cNvPr id="51" name="AutoShape 11"/>
              <p:cNvCxnSpPr>
                <a:cxnSpLocks noChangeShapeType="1"/>
              </p:cNvCxnSpPr>
              <p:nvPr/>
            </p:nvCxnSpPr>
            <p:spPr bwMode="auto">
              <a:xfrm>
                <a:off x="7819937" y="3546967"/>
                <a:ext cx="384496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54" name="AutoShape 11"/>
              <p:cNvCxnSpPr>
                <a:cxnSpLocks noChangeShapeType="1"/>
              </p:cNvCxnSpPr>
              <p:nvPr/>
            </p:nvCxnSpPr>
            <p:spPr bwMode="auto">
              <a:xfrm>
                <a:off x="10327449" y="3548803"/>
                <a:ext cx="384496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scene3d>
                <a:camera prst="orthographicFront">
                  <a:rot lat="0" lon="0" rev="10800000"/>
                </a:camera>
                <a:lightRig rig="threePt" dir="t"/>
              </a:scene3d>
            </p:spPr>
          </p:cxnSp>
        </p:grp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例子 判断回文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58728" y="1825015"/>
            <a:ext cx="9912910" cy="4198280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public class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CheckPalindrome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{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/** Main method */	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public static void main(String[]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args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 {		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	// Prompt the user to enter a string		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	String s =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JOptionPane.</a:t>
            </a:r>
            <a:r>
              <a:rPr lang="en-US" altLang="zh-CN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showInputDialog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("Enter a string:");		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	String output = "";		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	if 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isPalindrome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(s))			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		output = s + " is a palindrome";		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	else			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		output = s + " is not a palindrome";		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	// Display the result		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	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JOptionPane.</a:t>
            </a:r>
            <a:r>
              <a:rPr lang="en-US" altLang="zh-CN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showMessageDialog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(null, output);	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	}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}</a:t>
            </a:r>
          </a:p>
          <a:p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370913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en-US" altLang="zh-CN" b="1" dirty="0" err="1">
                <a:latin typeface="华文细黑" panose="02010600040101010101" pitchFamily="2" charset="-122"/>
                <a:ea typeface="华文细黑" panose="02010600040101010101" pitchFamily="2" charset="-122"/>
              </a:rPr>
              <a:t>StringBuilder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与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StringBuffer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58728" y="1825015"/>
            <a:ext cx="9912910" cy="4198280"/>
          </a:xfrm>
          <a:prstGeom prst="rect">
            <a:avLst/>
          </a:prstGeom>
        </p:spPr>
        <p:txBody>
          <a:bodyPr/>
          <a:lstStyle/>
          <a:p>
            <a:endParaRPr lang="zh-CN" altLang="en-US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38400" y="1280160"/>
            <a:ext cx="11473967" cy="4927209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String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类一旦初始化完成，字符串就是不可修改的。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StringBuilder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StringBuffer(final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类）初始化后还可以修改字符串。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StringBuffer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修改缓冲区的方法是同步（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synchronized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）的，更适合多线程环境。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StringBuilder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线程不安全，与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StringBuffer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工作机制类似。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由于可修改字符串，</a:t>
            </a:r>
            <a:r>
              <a:rPr lang="en-US" altLang="zh-CN" sz="24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 </a:t>
            </a:r>
            <a:r>
              <a:rPr lang="en-US" altLang="zh-CN" sz="2400" b="1" dirty="0" err="1">
                <a:latin typeface="华文细黑" panose="02010600040101010101" pitchFamily="2" charset="-122"/>
                <a:ea typeface="华文细黑" panose="02010600040101010101" pitchFamily="2" charset="-122"/>
              </a:rPr>
              <a:t>StringBuilder</a:t>
            </a:r>
            <a:r>
              <a:rPr lang="en-US" altLang="zh-CN" sz="24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 </a:t>
            </a:r>
            <a:r>
              <a:rPr lang="zh-CN" altLang="en-US" sz="24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与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StringBuffer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增加了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String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类没有的一些函数，例如：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append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insert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delete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replace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reverse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setCharAt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等。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仅以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StringBuilder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为例：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marL="469900" lvl="1">
              <a:lnSpc>
                <a:spcPct val="130000"/>
              </a:lnSpc>
            </a:pP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StringBuilder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stringMy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=new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StringBuilder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 );</a:t>
            </a:r>
          </a:p>
          <a:p>
            <a:pPr marL="469900" lvl="1">
              <a:lnSpc>
                <a:spcPct val="130000"/>
              </a:lnSpc>
            </a:pP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StringMy.append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Welcome to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);</a:t>
            </a:r>
          </a:p>
          <a:p>
            <a:pPr marL="0" lvl="1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StringMy.append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Java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);</a:t>
            </a:r>
          </a:p>
          <a:p>
            <a:endParaRPr lang="en-US" altLang="zh-CN" sz="2000" dirty="0">
              <a:latin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08818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370913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en-US" altLang="zh-CN" b="1" dirty="0" err="1">
                <a:latin typeface="华文细黑" panose="02010600040101010101" pitchFamily="2" charset="-122"/>
                <a:ea typeface="华文细黑" panose="02010600040101010101" pitchFamily="2" charset="-122"/>
              </a:rPr>
              <a:t>StringBuilder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与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StringBuffer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58728" y="1825015"/>
            <a:ext cx="9912910" cy="4198280"/>
          </a:xfrm>
          <a:prstGeom prst="rect">
            <a:avLst/>
          </a:prstGeom>
        </p:spPr>
        <p:txBody>
          <a:bodyPr/>
          <a:lstStyle/>
          <a:p>
            <a:endParaRPr lang="zh-CN" altLang="en-US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StringBuffer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892053" y="1754676"/>
            <a:ext cx="8001000" cy="4678362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StringBuffer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用于处理可变内容的字符串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append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方法在字符串的结尾追加数据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insert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方法在指定位置上插入数据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reverse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方法翻转字符串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replace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方法替换字符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toString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方法返回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String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对象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capacity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方法返回缓冲区的容量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length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方法返回缓冲区中字符的个数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setLength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方法设置缓冲区的长度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charAt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方法返回指定位置的字符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setCharAt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方法设置指定位置的字符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0881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370913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en-US" altLang="zh-CN" b="1" dirty="0" err="1">
                <a:latin typeface="华文细黑" panose="02010600040101010101" pitchFamily="2" charset="-122"/>
                <a:ea typeface="华文细黑" panose="02010600040101010101" pitchFamily="2" charset="-122"/>
              </a:rPr>
              <a:t>StringBuilder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与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StringBuffer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58728" y="1825015"/>
            <a:ext cx="9912910" cy="4198280"/>
          </a:xfrm>
          <a:prstGeom prst="rect">
            <a:avLst/>
          </a:prstGeom>
        </p:spPr>
        <p:txBody>
          <a:bodyPr/>
          <a:lstStyle/>
          <a:p>
            <a:endParaRPr lang="zh-CN" altLang="en-US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18051" y="1193076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修改</a:t>
            </a:r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StringBuffer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中的字符串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777753" y="1737092"/>
            <a:ext cx="8001000" cy="4678362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追加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插入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删除：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Welcome 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to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Java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576021" y="2130425"/>
            <a:ext cx="6796088" cy="1558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dirty="0"/>
              <a:t>StringBuffer bf = new StringBuffer();</a:t>
            </a:r>
          </a:p>
          <a:p>
            <a:pPr algn="l"/>
            <a:r>
              <a:rPr lang="en-US" altLang="zh-CN" dirty="0" err="1"/>
              <a:t>bf.append</a:t>
            </a:r>
            <a:r>
              <a:rPr lang="en-US" altLang="zh-CN" dirty="0"/>
              <a:t>(“Welcome”);</a:t>
            </a:r>
          </a:p>
          <a:p>
            <a:pPr algn="l"/>
            <a:r>
              <a:rPr lang="en-US" altLang="zh-CN" dirty="0" err="1"/>
              <a:t>bf.append</a:t>
            </a:r>
            <a:r>
              <a:rPr lang="en-US" altLang="zh-CN" dirty="0"/>
              <a:t>(‘ ‘);</a:t>
            </a:r>
          </a:p>
          <a:p>
            <a:pPr algn="l"/>
            <a:r>
              <a:rPr lang="en-US" altLang="zh-CN" dirty="0" err="1"/>
              <a:t>bf.append</a:t>
            </a:r>
            <a:r>
              <a:rPr lang="en-US" altLang="zh-CN" dirty="0"/>
              <a:t>(“to ”);</a:t>
            </a:r>
          </a:p>
          <a:p>
            <a:pPr algn="l"/>
            <a:r>
              <a:rPr lang="en-US" altLang="zh-CN" dirty="0" err="1"/>
              <a:t>bf.append</a:t>
            </a:r>
            <a:r>
              <a:rPr lang="en-US" altLang="zh-CN" dirty="0"/>
              <a:t>(“Java”);</a:t>
            </a:r>
          </a:p>
          <a:p>
            <a:pPr algn="l"/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bf.toString</a:t>
            </a:r>
            <a:r>
              <a:rPr lang="en-US" altLang="zh-CN" dirty="0"/>
              <a:t>()); //Welcome to Java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1532059" y="4383943"/>
            <a:ext cx="5335880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dirty="0" err="1"/>
              <a:t>bf.insert</a:t>
            </a:r>
            <a:r>
              <a:rPr lang="en-US" altLang="zh-CN" dirty="0"/>
              <a:t>(11,”HTML and ”) //Welcome to HTML and JAVA</a:t>
            </a:r>
            <a:endParaRPr lang="zh-CN" altLang="en-US" dirty="0"/>
          </a:p>
        </p:txBody>
      </p: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1584815" y="5299075"/>
            <a:ext cx="6796088" cy="175432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dirty="0" err="1">
                <a:solidFill>
                  <a:schemeClr val="accent2"/>
                </a:solidFill>
              </a:rPr>
              <a:t>bf.delete</a:t>
            </a:r>
            <a:r>
              <a:rPr lang="en-US" altLang="zh-CN" dirty="0">
                <a:solidFill>
                  <a:schemeClr val="accent2"/>
                </a:solidFill>
              </a:rPr>
              <a:t>(8,11); //Welcome Java,</a:t>
            </a:r>
            <a:r>
              <a:rPr lang="zh-CN" altLang="en-US" dirty="0">
                <a:solidFill>
                  <a:schemeClr val="accent2"/>
                </a:solidFill>
              </a:rPr>
              <a:t>不含</a:t>
            </a:r>
            <a:r>
              <a:rPr lang="en-US" altLang="zh-CN" dirty="0">
                <a:solidFill>
                  <a:schemeClr val="accent2"/>
                </a:solidFill>
              </a:rPr>
              <a:t>11</a:t>
            </a:r>
          </a:p>
          <a:p>
            <a:pPr algn="l"/>
            <a:r>
              <a:rPr lang="en-US" altLang="zh-CN" dirty="0" err="1">
                <a:solidFill>
                  <a:schemeClr val="accent2"/>
                </a:solidFill>
              </a:rPr>
              <a:t>bf.deleteCharAt</a:t>
            </a:r>
            <a:r>
              <a:rPr lang="en-US" altLang="zh-CN" dirty="0">
                <a:solidFill>
                  <a:schemeClr val="accent2"/>
                </a:solidFill>
              </a:rPr>
              <a:t>(8);//Welcome o Java</a:t>
            </a:r>
          </a:p>
          <a:p>
            <a:pPr algn="l"/>
            <a:r>
              <a:rPr lang="en-US" altLang="zh-CN" dirty="0" err="1">
                <a:solidFill>
                  <a:schemeClr val="accent2"/>
                </a:solidFill>
              </a:rPr>
              <a:t>bf.reverse</a:t>
            </a:r>
            <a:r>
              <a:rPr lang="en-US" altLang="zh-CN" dirty="0">
                <a:solidFill>
                  <a:schemeClr val="accent2"/>
                </a:solidFill>
              </a:rPr>
              <a:t>(); //</a:t>
            </a:r>
            <a:r>
              <a:rPr lang="en-US" altLang="zh-CN" dirty="0" err="1">
                <a:solidFill>
                  <a:schemeClr val="accent2"/>
                </a:solidFill>
              </a:rPr>
              <a:t>avaJ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err="1">
                <a:solidFill>
                  <a:schemeClr val="accent2"/>
                </a:solidFill>
              </a:rPr>
              <a:t>ot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err="1">
                <a:solidFill>
                  <a:schemeClr val="accent2"/>
                </a:solidFill>
              </a:rPr>
              <a:t>emocleW</a:t>
            </a:r>
            <a:endParaRPr lang="en-US" altLang="zh-CN" dirty="0">
              <a:solidFill>
                <a:schemeClr val="accent2"/>
              </a:solidFill>
            </a:endParaRPr>
          </a:p>
          <a:p>
            <a:pPr algn="l"/>
            <a:r>
              <a:rPr lang="en-US" altLang="zh-CN" dirty="0" err="1">
                <a:solidFill>
                  <a:schemeClr val="accent2"/>
                </a:solidFill>
              </a:rPr>
              <a:t>bf.replace</a:t>
            </a:r>
            <a:r>
              <a:rPr lang="zh-CN" altLang="en-US" dirty="0">
                <a:solidFill>
                  <a:schemeClr val="accent2"/>
                </a:solidFill>
              </a:rPr>
              <a:t>（</a:t>
            </a:r>
            <a:r>
              <a:rPr lang="en-US" altLang="zh-CN" dirty="0">
                <a:solidFill>
                  <a:schemeClr val="accent2"/>
                </a:solidFill>
              </a:rPr>
              <a:t>11</a:t>
            </a:r>
            <a:r>
              <a:rPr lang="zh-CN" altLang="en-US" dirty="0">
                <a:solidFill>
                  <a:schemeClr val="accent2"/>
                </a:solidFill>
              </a:rPr>
              <a:t>，</a:t>
            </a:r>
            <a:r>
              <a:rPr lang="en-US" altLang="zh-CN" dirty="0">
                <a:solidFill>
                  <a:schemeClr val="accent2"/>
                </a:solidFill>
              </a:rPr>
              <a:t>15</a:t>
            </a:r>
            <a:r>
              <a:rPr lang="zh-CN" altLang="en-US" dirty="0">
                <a:solidFill>
                  <a:schemeClr val="accent2"/>
                </a:solidFill>
              </a:rPr>
              <a:t>，“</a:t>
            </a:r>
            <a:r>
              <a:rPr lang="en-US" altLang="zh-CN" dirty="0">
                <a:solidFill>
                  <a:schemeClr val="accent2"/>
                </a:solidFill>
              </a:rPr>
              <a:t>HTML”</a:t>
            </a:r>
            <a:r>
              <a:rPr lang="zh-CN" altLang="en-US" dirty="0">
                <a:solidFill>
                  <a:schemeClr val="accent2"/>
                </a:solidFill>
              </a:rPr>
              <a:t>）</a:t>
            </a:r>
            <a:r>
              <a:rPr lang="en-US" altLang="zh-CN" dirty="0">
                <a:solidFill>
                  <a:schemeClr val="accent2"/>
                </a:solidFill>
              </a:rPr>
              <a:t>;//Welcome to HTML</a:t>
            </a:r>
            <a:r>
              <a:rPr lang="zh-CN" altLang="en-US" dirty="0">
                <a:solidFill>
                  <a:schemeClr val="accent2"/>
                </a:solidFill>
              </a:rPr>
              <a:t>，不含</a:t>
            </a:r>
            <a:r>
              <a:rPr lang="en-US" altLang="zh-CN" dirty="0">
                <a:solidFill>
                  <a:schemeClr val="accent2"/>
                </a:solidFill>
              </a:rPr>
              <a:t>15</a:t>
            </a:r>
          </a:p>
          <a:p>
            <a:pPr algn="l"/>
            <a:r>
              <a:rPr lang="en-US" altLang="zh-CN" dirty="0" err="1"/>
              <a:t>bf.setCharAt</a:t>
            </a:r>
            <a:r>
              <a:rPr lang="en-US" altLang="zh-CN" dirty="0"/>
              <a:t>(0,’w’);//welcome to Java</a:t>
            </a:r>
          </a:p>
          <a:p>
            <a:pPr algn="l"/>
            <a:endParaRPr lang="en-US" altLang="zh-CN" dirty="0"/>
          </a:p>
        </p:txBody>
      </p:sp>
      <p:sp>
        <p:nvSpPr>
          <p:cNvPr id="17" name="TextBox 16"/>
          <p:cNvSpPr txBox="1"/>
          <p:nvPr/>
        </p:nvSpPr>
        <p:spPr>
          <a:xfrm>
            <a:off x="6533294" y="3128074"/>
            <a:ext cx="5492261" cy="23391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所有对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StringBuffer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对象内容进行修改的方法，都返回指向相同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StringBuffer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对象的引用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华文新魏" pitchFamily="2" charset="-122"/>
              <a:ea typeface="华文新魏" pitchFamily="2" charset="-122"/>
            </a:endParaRPr>
          </a:p>
          <a:p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StringBuffer bf = new StringBuffer();</a:t>
            </a:r>
          </a:p>
          <a:p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StringBuffer bf1 = 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bf.append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("Welcome "); </a:t>
            </a:r>
          </a:p>
          <a:p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StringBuffer bf2 = 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bf.append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("to ");</a:t>
            </a:r>
          </a:p>
          <a:p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StringBuffer bf3 = 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bf.append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("Java");</a:t>
            </a:r>
          </a:p>
          <a:p>
            <a:r>
              <a:rPr lang="en-US" altLang="zh-CN" sz="1600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assert bf==bf1 &amp;&amp; bf==bf2 &amp;&amp; bf == bf3;</a:t>
            </a:r>
          </a:p>
          <a:p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因此以上语句可以直接写成：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华文新魏" pitchFamily="2" charset="-122"/>
              <a:ea typeface="华文新魏" pitchFamily="2" charset="-122"/>
            </a:endParaRPr>
          </a:p>
          <a:p>
            <a:r>
              <a:rPr lang="en-US" altLang="zh-CN" sz="1600" dirty="0" err="1">
                <a:solidFill>
                  <a:srgbClr val="FF0000"/>
                </a:solidFill>
              </a:rPr>
              <a:t>bf.append</a:t>
            </a:r>
            <a:r>
              <a:rPr lang="en-US" altLang="zh-CN" sz="1600" dirty="0">
                <a:solidFill>
                  <a:srgbClr val="FF0000"/>
                </a:solidFill>
              </a:rPr>
              <a:t>("Welcome ").append("to ").append("Java");</a:t>
            </a:r>
            <a:endParaRPr lang="en-US" altLang="zh-CN" sz="1600" dirty="0">
              <a:latin typeface="华文新魏" pitchFamily="2" charset="-122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08818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370913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en-US" altLang="zh-CN" b="1" dirty="0" err="1">
                <a:latin typeface="华文细黑" panose="02010600040101010101" pitchFamily="2" charset="-122"/>
                <a:ea typeface="华文细黑" panose="02010600040101010101" pitchFamily="2" charset="-122"/>
              </a:rPr>
              <a:t>StringBuilder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与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StringBuffer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58728" y="1825015"/>
            <a:ext cx="9912910" cy="4198280"/>
          </a:xfrm>
          <a:prstGeom prst="rect">
            <a:avLst/>
          </a:prstGeom>
        </p:spPr>
        <p:txBody>
          <a:bodyPr/>
          <a:lstStyle/>
          <a:p>
            <a:endParaRPr lang="zh-CN" altLang="en-US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58728" y="1228245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StringBuffer</a:t>
            </a:r>
            <a:endParaRPr lang="zh-CN" altLang="en-US" sz="28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1226161" y="1772261"/>
            <a:ext cx="8001000" cy="4678362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toString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():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从缓冲区返回字符串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capacity()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：返回缓冲区容量。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length &lt;= capacity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当字符串长度超过缓冲区容量，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capacity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会自动增加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length()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：返回缓冲区中字符数量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setLength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newLength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：设置缓冲区长度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charAt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(index)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：返回下标为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index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的字符</a:t>
            </a:r>
          </a:p>
        </p:txBody>
      </p:sp>
    </p:spTree>
    <p:extLst>
      <p:ext uri="{BB962C8B-B14F-4D97-AF65-F5344CB8AC3E}">
        <p14:creationId xmlns:p14="http://schemas.microsoft.com/office/powerpoint/2010/main" val="34508818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4.3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370913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字符串类型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en-US" altLang="zh-CN" b="1" dirty="0" err="1">
                <a:latin typeface="华文细黑" panose="02010600040101010101" pitchFamily="2" charset="-122"/>
                <a:ea typeface="华文细黑" panose="02010600040101010101" pitchFamily="2" charset="-122"/>
              </a:rPr>
              <a:t>StringBuilder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与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StringBuffer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58728" y="1825015"/>
            <a:ext cx="9912910" cy="4198280"/>
          </a:xfrm>
          <a:prstGeom prst="rect">
            <a:avLst/>
          </a:prstGeom>
        </p:spPr>
        <p:txBody>
          <a:bodyPr/>
          <a:lstStyle/>
          <a:p>
            <a:endParaRPr lang="zh-CN" altLang="en-US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49936" y="1157906"/>
            <a:ext cx="9895326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StringBuffer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例子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971183" y="1684338"/>
            <a:ext cx="9676301" cy="4678362"/>
          </a:xfrm>
          <a:prstGeom prst="rect">
            <a:avLst/>
          </a:prstGeom>
        </p:spPr>
        <p:txBody>
          <a:bodyPr/>
          <a:lstStyle/>
          <a:p>
            <a:pPr marL="476250" indent="-476250"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编写程序，检查回文。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485900" y="2176859"/>
            <a:ext cx="8806473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Verdana" pitchFamily="34" charset="0"/>
              </a:rPr>
              <a:t>public static </a:t>
            </a:r>
            <a:r>
              <a:rPr lang="en-US" altLang="zh-CN" dirty="0" err="1">
                <a:latin typeface="Verdana" pitchFamily="34" charset="0"/>
              </a:rPr>
              <a:t>boolean</a:t>
            </a:r>
            <a:r>
              <a:rPr lang="en-US" altLang="zh-CN" dirty="0">
                <a:latin typeface="Verdana" pitchFamily="34" charset="0"/>
              </a:rPr>
              <a:t> </a:t>
            </a:r>
            <a:r>
              <a:rPr lang="en-US" altLang="zh-CN" dirty="0" err="1">
                <a:latin typeface="Verdana" pitchFamily="34" charset="0"/>
              </a:rPr>
              <a:t>isPalindrome</a:t>
            </a:r>
            <a:r>
              <a:rPr lang="en-US" altLang="zh-CN" dirty="0">
                <a:latin typeface="Verdana" pitchFamily="34" charset="0"/>
              </a:rPr>
              <a:t>(String s) {		</a:t>
            </a:r>
          </a:p>
          <a:p>
            <a:r>
              <a:rPr lang="en-US" altLang="zh-CN" dirty="0">
                <a:latin typeface="Verdana" pitchFamily="34" charset="0"/>
              </a:rPr>
              <a:t>		</a:t>
            </a:r>
          </a:p>
          <a:p>
            <a:r>
              <a:rPr lang="en-US" altLang="zh-CN" dirty="0">
                <a:latin typeface="Verdana" pitchFamily="34" charset="0"/>
              </a:rPr>
              <a:t>// Create a new string that is the reversal of s</a:t>
            </a:r>
          </a:p>
          <a:p>
            <a:r>
              <a:rPr lang="en-US" altLang="zh-CN" dirty="0">
                <a:latin typeface="Verdana" pitchFamily="34" charset="0"/>
              </a:rPr>
              <a:t>	String s2 = reverse(s);		</a:t>
            </a:r>
          </a:p>
          <a:p>
            <a:r>
              <a:rPr lang="en-US" altLang="zh-CN" dirty="0">
                <a:latin typeface="Verdana" pitchFamily="34" charset="0"/>
              </a:rPr>
              <a:t>// Compare if the reversal is the same as the original string		return s2.equals(s);	</a:t>
            </a:r>
          </a:p>
          <a:p>
            <a:r>
              <a:rPr lang="en-US" altLang="zh-CN" dirty="0">
                <a:latin typeface="Verdana" pitchFamily="34" charset="0"/>
              </a:rPr>
              <a:t>}</a:t>
            </a:r>
          </a:p>
          <a:p>
            <a:endParaRPr lang="en-US" altLang="zh-CN" sz="1800" dirty="0">
              <a:latin typeface="Verdana" pitchFamily="34" charset="0"/>
            </a:endParaRPr>
          </a:p>
          <a:p>
            <a:r>
              <a:rPr lang="en-US" altLang="zh-CN" dirty="0">
                <a:latin typeface="Verdana" pitchFamily="34" charset="0"/>
              </a:rPr>
              <a:t>public static String reverse(String s) {		</a:t>
            </a:r>
          </a:p>
          <a:p>
            <a:r>
              <a:rPr lang="en-US" altLang="zh-CN" dirty="0">
                <a:latin typeface="Verdana" pitchFamily="34" charset="0"/>
              </a:rPr>
              <a:t>	StringBuffer </a:t>
            </a:r>
            <a:r>
              <a:rPr lang="en-US" altLang="zh-CN" dirty="0" err="1">
                <a:latin typeface="Verdana" pitchFamily="34" charset="0"/>
              </a:rPr>
              <a:t>strBuf</a:t>
            </a:r>
            <a:r>
              <a:rPr lang="en-US" altLang="zh-CN" dirty="0">
                <a:latin typeface="Verdana" pitchFamily="34" charset="0"/>
              </a:rPr>
              <a:t> = new StringBuffer(s);		</a:t>
            </a:r>
          </a:p>
          <a:p>
            <a:r>
              <a:rPr lang="en-US" altLang="zh-CN" dirty="0">
                <a:latin typeface="Verdana" pitchFamily="34" charset="0"/>
              </a:rPr>
              <a:t>	</a:t>
            </a:r>
            <a:r>
              <a:rPr lang="en-US" altLang="zh-CN" dirty="0" err="1">
                <a:latin typeface="Verdana" pitchFamily="34" charset="0"/>
              </a:rPr>
              <a:t>strBuf.reverse</a:t>
            </a:r>
            <a:r>
              <a:rPr lang="en-US" altLang="zh-CN" dirty="0">
                <a:latin typeface="Verdana" pitchFamily="34" charset="0"/>
              </a:rPr>
              <a:t>();		</a:t>
            </a:r>
          </a:p>
          <a:p>
            <a:r>
              <a:rPr lang="en-US" altLang="zh-CN" dirty="0">
                <a:latin typeface="Verdana" pitchFamily="34" charset="0"/>
              </a:rPr>
              <a:t>	return </a:t>
            </a:r>
            <a:r>
              <a:rPr lang="en-US" altLang="zh-CN" dirty="0" err="1">
                <a:latin typeface="Verdana" pitchFamily="34" charset="0"/>
              </a:rPr>
              <a:t>strBuf.toString</a:t>
            </a:r>
            <a:r>
              <a:rPr lang="en-US" altLang="zh-CN" dirty="0">
                <a:latin typeface="Verdana" pitchFamily="34" charset="0"/>
              </a:rPr>
              <a:t>();	</a:t>
            </a:r>
          </a:p>
          <a:p>
            <a:r>
              <a:rPr lang="en-US" altLang="zh-CN" dirty="0">
                <a:latin typeface="Verdana" pitchFamily="34" charset="0"/>
              </a:rPr>
              <a:t>}</a:t>
            </a:r>
            <a:endParaRPr lang="en-US" altLang="zh-CN" sz="1800" dirty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8818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4.4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格式化控制台输出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285382" y="1341438"/>
            <a:ext cx="10142295" cy="4874724"/>
          </a:xfrm>
          <a:prstGeom prst="rect">
            <a:avLst/>
          </a:prstGeom>
        </p:spPr>
        <p:txBody>
          <a:bodyPr/>
          <a:lstStyle/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566737" y="1341438"/>
            <a:ext cx="11221071" cy="4678362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JDK1.5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开始提供了格式化控制台输出方法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System.out.print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f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(format, item1, item2, …);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//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格式化字符串，后面跟要打印的变量列表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格式化字符串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String.format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(format, item1, item2, …);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//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返回一个格式化好了的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String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格式描述符：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%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[</a:t>
            </a:r>
            <a:r>
              <a:rPr lang="en-US" altLang="zh-CN" sz="2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argument_index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$]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[flags][width][.precision]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conversion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，其中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marL="685800" lvl="1" indent="-228600">
              <a:lnSpc>
                <a:spcPct val="110000"/>
              </a:lnSpc>
              <a:spcBef>
                <a:spcPts val="1000"/>
              </a:spcBef>
              <a:buFont typeface="Wingdings" pitchFamily="2" charset="2"/>
              <a:buChar char="u"/>
              <a:defRPr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可选的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argument_index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是一个十进制整数，用于表明参数在参数列表中的位置。第一个参数由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"1$"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引用，第二个参数由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"2$"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引用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marL="685800" lvl="1" indent="-228600">
              <a:lnSpc>
                <a:spcPct val="110000"/>
              </a:lnSpc>
              <a:spcBef>
                <a:spcPts val="1000"/>
              </a:spcBef>
              <a:buFont typeface="Wingdings" pitchFamily="2" charset="2"/>
              <a:buChar char="u"/>
              <a:defRPr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conversion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：应该如何格式化参数的字符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	%b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布尔值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	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%c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字符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	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%d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十进制整数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	%f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浮点数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	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%e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科学计数法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	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%s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字符串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String s = </a:t>
            </a:r>
            <a:r>
              <a:rPr lang="en-US" altLang="zh-CN" sz="2400" dirty="0" err="1"/>
              <a:t>String.format</a:t>
            </a:r>
            <a:r>
              <a:rPr lang="en-US" altLang="zh-CN" sz="2400" dirty="0"/>
              <a:t>(“</a:t>
            </a:r>
            <a:r>
              <a:rPr lang="zh-CN" altLang="en-US" sz="2400" dirty="0"/>
              <a:t>格式</a:t>
            </a:r>
            <a:r>
              <a:rPr lang="en-US" altLang="zh-CN" sz="2400" dirty="0"/>
              <a:t>$</a:t>
            </a:r>
            <a:r>
              <a:rPr lang="zh-CN" altLang="en-US" sz="2400" dirty="0"/>
              <a:t>：</a:t>
            </a:r>
            <a:r>
              <a:rPr lang="en-US" altLang="zh-CN" sz="2400" dirty="0"/>
              <a:t>%1$d,%2$s”, 99,“abc”); //</a:t>
            </a:r>
            <a:r>
              <a:rPr lang="zh-CN" altLang="en-US" sz="2400" dirty="0"/>
              <a:t>结果</a:t>
            </a:r>
            <a:r>
              <a:rPr lang="en-US" altLang="zh-CN" sz="2400" dirty="0"/>
              <a:t>”</a:t>
            </a:r>
            <a:r>
              <a:rPr lang="zh-CN" altLang="en-US" sz="2400" dirty="0"/>
              <a:t>格式</a:t>
            </a:r>
            <a:r>
              <a:rPr lang="en-US" altLang="zh-CN" sz="2400" dirty="0"/>
              <a:t>$</a:t>
            </a:r>
            <a:r>
              <a:rPr lang="zh-CN" altLang="en-US" sz="2400" dirty="0"/>
              <a:t>：</a:t>
            </a:r>
            <a:r>
              <a:rPr lang="en-US" altLang="zh-CN" sz="2400" dirty="0"/>
              <a:t>99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abc</a:t>
            </a:r>
            <a:r>
              <a:rPr lang="en-US" altLang="zh-CN" sz="2400" dirty="0"/>
              <a:t>“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4.4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格式化控制台输出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285382" y="1341438"/>
            <a:ext cx="10142295" cy="4874724"/>
          </a:xfrm>
          <a:prstGeom prst="rect">
            <a:avLst/>
          </a:prstGeom>
        </p:spPr>
        <p:txBody>
          <a:bodyPr/>
          <a:lstStyle/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566738" y="1341438"/>
            <a:ext cx="9430116" cy="4678362"/>
          </a:xfrm>
          <a:prstGeom prst="rect">
            <a:avLst/>
          </a:prstGeom>
        </p:spPr>
        <p:txBody>
          <a:bodyPr/>
          <a:lstStyle/>
          <a:p>
            <a:pPr marL="685800" lvl="1" indent="-228600">
              <a:lnSpc>
                <a:spcPct val="90000"/>
              </a:lnSpc>
              <a:spcBef>
                <a:spcPts val="500"/>
              </a:spcBef>
              <a:defRPr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public class 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TestPrintf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 {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defRPr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    public static void main(String[] 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args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) {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defRPr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System.out.printf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("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boolean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 : %6b\n", false);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defRPr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System.out.printf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("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boolean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 : %6b\n", true);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defRPr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System.out.printf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("character : %4c\n", 'a');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defRPr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System.out.printf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("integer : %6d, %6d\n", 100, 200);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defRPr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System.out.printf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("double : %7.2f\n", 12.345);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defRPr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System.out.printf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("String : %7s\n", "hello");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defRPr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    }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defRPr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}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6.2|8.2|2.8|6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3.9|92.8|19.8|32.9|36.7|29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6|12.7|10.1|14|19.6|75.8|31.8|10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9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5|12.5|7.9|4|5.2|19.4|24|13.6|4.6|5.8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0517C"/>
        </a:solidFill>
        <a:ln>
          <a:noFill/>
        </a:ln>
      </a:spPr>
      <a:bodyPr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1836</TotalTime>
  <Words>4771</Words>
  <Application>Microsoft Office PowerPoint</Application>
  <PresentationFormat>宽屏</PresentationFormat>
  <Paragraphs>596</Paragraphs>
  <Slides>39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1" baseType="lpstr">
      <vt:lpstr>华文细黑</vt:lpstr>
      <vt:lpstr>Wingdings</vt:lpstr>
      <vt:lpstr>微软雅黑</vt:lpstr>
      <vt:lpstr>Calibri</vt:lpstr>
      <vt:lpstr>Arial</vt:lpstr>
      <vt:lpstr>宋体</vt:lpstr>
      <vt:lpstr>等线</vt:lpstr>
      <vt:lpstr>华文新魏</vt:lpstr>
      <vt:lpstr>Times New Roman</vt:lpstr>
      <vt:lpstr>Calibri Light</vt:lpstr>
      <vt:lpstr>Verdana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lvxinqiao</dc:creator>
  <cp:lastModifiedBy>希武 辜</cp:lastModifiedBy>
  <cp:revision>343</cp:revision>
  <dcterms:created xsi:type="dcterms:W3CDTF">2018-01-23T14:33:00Z</dcterms:created>
  <dcterms:modified xsi:type="dcterms:W3CDTF">2026-03-16T11:23:45Z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2052-10.1.0.7106</vt:lpwstr>
  </property>
</Properties>
</file>