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8.xml" ContentType="application/vnd.openxmlformats-officedocument.presentationml.tags+xml"/>
  <Override PartName="/ppt/notesSlides/notesSlide28.xml" ContentType="application/vnd.openxmlformats-officedocument.presentationml.notesSlide+xml"/>
  <Override PartName="/ppt/tags/tag9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61" r:id="rId2"/>
    <p:sldId id="309" r:id="rId3"/>
    <p:sldId id="306" r:id="rId4"/>
    <p:sldId id="284" r:id="rId5"/>
    <p:sldId id="281" r:id="rId6"/>
    <p:sldId id="305" r:id="rId7"/>
    <p:sldId id="282" r:id="rId8"/>
    <p:sldId id="310" r:id="rId9"/>
    <p:sldId id="285" r:id="rId10"/>
    <p:sldId id="308" r:id="rId11"/>
    <p:sldId id="311" r:id="rId12"/>
    <p:sldId id="291" r:id="rId13"/>
    <p:sldId id="286" r:id="rId14"/>
    <p:sldId id="312" r:id="rId15"/>
    <p:sldId id="313" r:id="rId16"/>
    <p:sldId id="314" r:id="rId17"/>
    <p:sldId id="315" r:id="rId18"/>
    <p:sldId id="317" r:id="rId19"/>
    <p:sldId id="318" r:id="rId20"/>
    <p:sldId id="316" r:id="rId21"/>
    <p:sldId id="293" r:id="rId22"/>
    <p:sldId id="307" r:id="rId23"/>
    <p:sldId id="319" r:id="rId24"/>
    <p:sldId id="299" r:id="rId25"/>
    <p:sldId id="301" r:id="rId26"/>
    <p:sldId id="321" r:id="rId27"/>
    <p:sldId id="320" r:id="rId28"/>
    <p:sldId id="322" r:id="rId29"/>
    <p:sldId id="300" r:id="rId30"/>
    <p:sldId id="324" r:id="rId31"/>
    <p:sldId id="295" r:id="rId32"/>
    <p:sldId id="296" r:id="rId33"/>
    <p:sldId id="297" r:id="rId34"/>
    <p:sldId id="323" r:id="rId35"/>
    <p:sldId id="287" r:id="rId36"/>
    <p:sldId id="288" r:id="rId37"/>
    <p:sldId id="289" r:id="rId38"/>
    <p:sldId id="298" r:id="rId39"/>
    <p:sldId id="283" r:id="rId4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106" autoAdjust="0"/>
  </p:normalViewPr>
  <p:slideViewPr>
    <p:cSldViewPr snapToGrid="0">
      <p:cViewPr varScale="1">
        <p:scale>
          <a:sx n="93" d="100"/>
          <a:sy n="93" d="100"/>
        </p:scale>
        <p:origin x="120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302" y="-91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64D3E-CE80-4CDF-B000-4A19DD94DB2E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860925"/>
            <a:ext cx="5683250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2F197-FC75-4883-98EF-65AB4A5A5D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42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007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16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993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18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429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024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05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110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19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422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707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这里加上注解的好处：</a:t>
            </a:r>
            <a:endParaRPr lang="en-US" altLang="zh-CN" dirty="0"/>
          </a:p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、可以当注释用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方便阅读；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、编译器可以给你验证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下面的方法名是否是你父类中所有的，如果没有则报错。例如，你如果没写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，而你下面的方法名又写错了，这时你的编译器是可以编译通过的，因为编译器以为这个方法是你的子类中自己增加的方法。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这里加上注解的好处：</a:t>
            </a:r>
            <a:endParaRPr lang="en-US" altLang="zh-CN" dirty="0"/>
          </a:p>
          <a:p>
            <a:pPr eaLnBrk="1" hangingPunct="1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、可以当注释用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方便阅读；</a:t>
            </a:r>
            <a:br>
              <a:rPr lang="zh-CN" altLang="en-US" dirty="0"/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、编译器可以给你验证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下面的方法名是否是你父类中所有的，如果没有则报错。例如，你如果没写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@Override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，而你下面的方法名又写错了，这时你的编译器是可以编译通过的，因为编译器以为这个方法是你的子类中自己增加的方法。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561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重写：前提是继承，子类中定义的方法与父类中的方法具有相同的方法名字、相同的参数列表、相同的返回类型（允许子类中方法的返回值是父类中方法返回值的子类），即相同的方法签名和返回类型，至于方法修饰符，需要范围相同或者比父类的范围大即可；</a:t>
            </a:r>
            <a:endParaRPr lang="en-US" altLang="zh-CN" dirty="0"/>
          </a:p>
          <a:p>
            <a:pPr eaLnBrk="1" hangingPunct="1"/>
            <a:r>
              <a:rPr lang="zh-CN" altLang="en-US" dirty="0"/>
              <a:t>重载：同一个类中的多个方法具有相同的名字，但这些方法具有不同的参数列表或者有不同的返回类型（不管是实例方法还是静态方法）。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79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重写：前提是继承，子类中定义的方法与父类中的方法具有相同的方法名字、相同的参数列表、相同的返回类型（允许子类中方法的返回值是父类中方法返回值的子类），即相同的方法签名和返回类型，至于方法修饰符，需要范围相同或者比父类的范围大即可；</a:t>
            </a:r>
            <a:endParaRPr lang="en-US" altLang="zh-CN" dirty="0"/>
          </a:p>
          <a:p>
            <a:pPr eaLnBrk="1" hangingPunct="1"/>
            <a:r>
              <a:rPr lang="zh-CN" altLang="en-US" dirty="0"/>
              <a:t>重载：同一个类中的多个方法具有相同的名字，但这些方法具有不同的参数列表或者有不同的返回类型。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6683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9000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29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2836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7398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>
                <a:solidFill>
                  <a:prstClr val="black"/>
                </a:solidFill>
              </a:rPr>
              <a:pPr/>
              <a:t>38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F197-FC75-4883-98EF-65AB4A5A5D8A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5400" y="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0" y="278936"/>
            <a:ext cx="864096" cy="1008063"/>
          </a:xfrm>
          <a:prstGeom prst="rect">
            <a:avLst/>
          </a:prstGeom>
        </p:spPr>
        <p:txBody>
          <a:bodyPr/>
          <a:lstStyle>
            <a:lvl1pPr marL="0" indent="0" algn="dist">
              <a:buNone/>
              <a:defRPr sz="4800" b="1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7592" y="348250"/>
            <a:ext cx="4586400" cy="496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2700" y="-8890"/>
            <a:ext cx="12217400" cy="1125538"/>
          </a:xfrm>
          <a:prstGeom prst="rect">
            <a:avLst/>
          </a:prstGeom>
          <a:solidFill>
            <a:srgbClr val="20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0" y="1116330"/>
            <a:ext cx="3359150" cy="57416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 userDrawn="1"/>
        </p:nvSpPr>
        <p:spPr bwMode="auto">
          <a:xfrm>
            <a:off x="623888" y="1537653"/>
            <a:ext cx="2003425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6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sp>
        <p:nvSpPr>
          <p:cNvPr id="16" name="文本框 15"/>
          <p:cNvSpPr txBox="1">
            <a:spLocks noChangeArrowheads="1"/>
          </p:cNvSpPr>
          <p:nvPr userDrawn="1"/>
        </p:nvSpPr>
        <p:spPr bwMode="auto">
          <a:xfrm>
            <a:off x="830263" y="2553653"/>
            <a:ext cx="1590675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di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>
                <a:solidFill>
                  <a:srgbClr val="FFFFFF"/>
                </a:solidFill>
              </a:rPr>
              <a:t>contents</a:t>
            </a:r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56" name="文本占位符 148"/>
          <p:cNvSpPr>
            <a:spLocks noGrp="1"/>
          </p:cNvSpPr>
          <p:nvPr>
            <p:ph type="body" sz="quarter" idx="11"/>
          </p:nvPr>
        </p:nvSpPr>
        <p:spPr>
          <a:xfrm>
            <a:off x="5159896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7" name="文本占位符 148"/>
          <p:cNvSpPr>
            <a:spLocks noGrp="1"/>
          </p:cNvSpPr>
          <p:nvPr>
            <p:ph type="body" sz="quarter" idx="12"/>
          </p:nvPr>
        </p:nvSpPr>
        <p:spPr>
          <a:xfrm>
            <a:off x="5159896" y="2650071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8" name="文本占位符 148"/>
          <p:cNvSpPr>
            <a:spLocks noGrp="1"/>
          </p:cNvSpPr>
          <p:nvPr>
            <p:ph type="body" sz="quarter" idx="13"/>
          </p:nvPr>
        </p:nvSpPr>
        <p:spPr>
          <a:xfrm>
            <a:off x="5159896" y="3414673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9" name="文本占位符 148"/>
          <p:cNvSpPr>
            <a:spLocks noGrp="1"/>
          </p:cNvSpPr>
          <p:nvPr>
            <p:ph type="body" sz="quarter" idx="14"/>
          </p:nvPr>
        </p:nvSpPr>
        <p:spPr>
          <a:xfrm>
            <a:off x="5159896" y="4179275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0" name="文本占位符 148"/>
          <p:cNvSpPr>
            <a:spLocks noGrp="1"/>
          </p:cNvSpPr>
          <p:nvPr>
            <p:ph type="body" sz="quarter" idx="15"/>
          </p:nvPr>
        </p:nvSpPr>
        <p:spPr>
          <a:xfrm>
            <a:off x="5159896" y="49438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1" name="文本占位符 148"/>
          <p:cNvSpPr>
            <a:spLocks noGrp="1"/>
          </p:cNvSpPr>
          <p:nvPr>
            <p:ph type="body" sz="quarter" idx="16"/>
          </p:nvPr>
        </p:nvSpPr>
        <p:spPr>
          <a:xfrm>
            <a:off x="5159896" y="5708477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7" name="文本占位符 148"/>
          <p:cNvSpPr>
            <a:spLocks noGrp="1"/>
          </p:cNvSpPr>
          <p:nvPr>
            <p:ph type="body" sz="quarter" idx="17"/>
          </p:nvPr>
        </p:nvSpPr>
        <p:spPr>
          <a:xfrm>
            <a:off x="7392144" y="1885469"/>
            <a:ext cx="2232248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8" name="文本占位符 148"/>
          <p:cNvSpPr>
            <a:spLocks noGrp="1"/>
          </p:cNvSpPr>
          <p:nvPr>
            <p:ph type="body" sz="quarter" idx="18"/>
          </p:nvPr>
        </p:nvSpPr>
        <p:spPr>
          <a:xfrm>
            <a:off x="7392144" y="2656557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9" name="文本占位符 148"/>
          <p:cNvSpPr>
            <a:spLocks noGrp="1"/>
          </p:cNvSpPr>
          <p:nvPr>
            <p:ph type="body" sz="quarter" idx="19"/>
          </p:nvPr>
        </p:nvSpPr>
        <p:spPr>
          <a:xfrm>
            <a:off x="7392144" y="341141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0" name="文本占位符 148"/>
          <p:cNvSpPr>
            <a:spLocks noGrp="1"/>
          </p:cNvSpPr>
          <p:nvPr>
            <p:ph type="body" sz="quarter" idx="20"/>
          </p:nvPr>
        </p:nvSpPr>
        <p:spPr>
          <a:xfrm>
            <a:off x="7392144" y="417950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1" name="文本占位符 148"/>
          <p:cNvSpPr>
            <a:spLocks noGrp="1"/>
          </p:cNvSpPr>
          <p:nvPr>
            <p:ph type="body" sz="quarter" idx="21"/>
          </p:nvPr>
        </p:nvSpPr>
        <p:spPr>
          <a:xfrm>
            <a:off x="7392144" y="4956676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2" name="文本占位符 148"/>
          <p:cNvSpPr>
            <a:spLocks noGrp="1"/>
          </p:cNvSpPr>
          <p:nvPr>
            <p:ph type="body" sz="quarter" idx="22"/>
          </p:nvPr>
        </p:nvSpPr>
        <p:spPr>
          <a:xfrm>
            <a:off x="7392144" y="5709142"/>
            <a:ext cx="3168352" cy="503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>
                <a:solidFill>
                  <a:srgbClr val="20517C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225425" y="252730"/>
            <a:ext cx="11741785" cy="6032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 u="none" strike="noStrike" kern="1200" cap="none" spc="0" normalizeH="0" baseline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pPr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.xml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opyright Notice"/>
          <p:cNvSpPr/>
          <p:nvPr/>
        </p:nvSpPr>
        <p:spPr bwMode="auto">
          <a:xfrm>
            <a:off x="5333114" y="1608455"/>
            <a:ext cx="5388391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.1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类和对象的定义及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UML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表示</a:t>
            </a:r>
            <a:endParaRPr lang="en-US" altLang="zh-CN" sz="2400" b="1" cap="small" dirty="0">
              <a:solidFill>
                <a:srgbClr val="2153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opyright Notice"/>
          <p:cNvSpPr/>
          <p:nvPr/>
        </p:nvSpPr>
        <p:spPr bwMode="auto">
          <a:xfrm>
            <a:off x="5318159" y="2173380"/>
            <a:ext cx="4308662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9.2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定义类并用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new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创建其对象</a:t>
            </a:r>
          </a:p>
        </p:txBody>
      </p:sp>
      <p:sp>
        <p:nvSpPr>
          <p:cNvPr id="33" name="Copyright Notice"/>
          <p:cNvSpPr/>
          <p:nvPr/>
        </p:nvSpPr>
        <p:spPr bwMode="auto">
          <a:xfrm>
            <a:off x="5326480" y="2721680"/>
            <a:ext cx="4930953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9.3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理解构造函数的作用</a:t>
            </a:r>
          </a:p>
        </p:txBody>
      </p:sp>
      <p:sp>
        <p:nvSpPr>
          <p:cNvPr id="51" name="Copyright Notice"/>
          <p:cNvSpPr/>
          <p:nvPr/>
        </p:nvSpPr>
        <p:spPr bwMode="auto">
          <a:xfrm>
            <a:off x="5338196" y="3248399"/>
            <a:ext cx="6582256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9.4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理解对象访问、向方法传递对象引用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5760" y="154305"/>
            <a:ext cx="9279402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章 对象和类</a:t>
            </a:r>
          </a:p>
        </p:txBody>
      </p:sp>
      <p:sp>
        <p:nvSpPr>
          <p:cNvPr id="81" name="Copyright Notice"/>
          <p:cNvSpPr/>
          <p:nvPr/>
        </p:nvSpPr>
        <p:spPr bwMode="auto">
          <a:xfrm>
            <a:off x="5353027" y="3759213"/>
            <a:ext cx="588578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9.5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实例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或静态</a:t>
            </a: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的变量、常量和方法</a:t>
            </a:r>
          </a:p>
        </p:txBody>
      </p:sp>
      <p:sp>
        <p:nvSpPr>
          <p:cNvPr id="82" name="Copyright Notice"/>
          <p:cNvSpPr/>
          <p:nvPr/>
        </p:nvSpPr>
        <p:spPr bwMode="auto">
          <a:xfrm>
            <a:off x="5354936" y="5346404"/>
            <a:ext cx="1701923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9.8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this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引用</a:t>
            </a:r>
          </a:p>
        </p:txBody>
      </p:sp>
      <p:sp>
        <p:nvSpPr>
          <p:cNvPr id="83" name="Copyright Notice"/>
          <p:cNvSpPr/>
          <p:nvPr/>
        </p:nvSpPr>
        <p:spPr bwMode="auto">
          <a:xfrm>
            <a:off x="5341086" y="4800554"/>
            <a:ext cx="4305199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9.7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变量的作用域和访问优先级</a:t>
            </a:r>
          </a:p>
        </p:txBody>
      </p:sp>
      <p:grpSp>
        <p:nvGrpSpPr>
          <p:cNvPr id="85" name="组合 10"/>
          <p:cNvGrpSpPr/>
          <p:nvPr/>
        </p:nvGrpSpPr>
        <p:grpSpPr bwMode="auto">
          <a:xfrm>
            <a:off x="4545046" y="3847601"/>
            <a:ext cx="428941" cy="309444"/>
            <a:chOff x="1469675" y="2728606"/>
            <a:chExt cx="2187070" cy="2162788"/>
          </a:xfrm>
        </p:grpSpPr>
        <p:grpSp>
          <p:nvGrpSpPr>
            <p:cNvPr id="86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90" name="等腰三角形 89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7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88" name="等腰三角形 87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92" name="组合 10"/>
          <p:cNvGrpSpPr/>
          <p:nvPr/>
        </p:nvGrpSpPr>
        <p:grpSpPr bwMode="auto">
          <a:xfrm>
            <a:off x="4547821" y="4349126"/>
            <a:ext cx="428941" cy="309444"/>
            <a:chOff x="1469675" y="2728606"/>
            <a:chExt cx="2187070" cy="2162788"/>
          </a:xfrm>
        </p:grpSpPr>
        <p:grpSp>
          <p:nvGrpSpPr>
            <p:cNvPr id="93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97" name="等腰三角形 9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4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95" name="等腰三角形 94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99" name="组合 10"/>
          <p:cNvGrpSpPr/>
          <p:nvPr/>
        </p:nvGrpSpPr>
        <p:grpSpPr bwMode="auto">
          <a:xfrm>
            <a:off x="4533971" y="4867276"/>
            <a:ext cx="428941" cy="309444"/>
            <a:chOff x="1469675" y="2728606"/>
            <a:chExt cx="2187070" cy="2162788"/>
          </a:xfrm>
        </p:grpSpPr>
        <p:grpSp>
          <p:nvGrpSpPr>
            <p:cNvPr id="100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04" name="等腰三角形 103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01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02" name="等腰三角形 101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06" name="组合 10"/>
          <p:cNvGrpSpPr/>
          <p:nvPr/>
        </p:nvGrpSpPr>
        <p:grpSpPr bwMode="auto">
          <a:xfrm>
            <a:off x="4553371" y="5368801"/>
            <a:ext cx="428941" cy="309444"/>
            <a:chOff x="1469675" y="2728606"/>
            <a:chExt cx="2187070" cy="2162788"/>
          </a:xfrm>
        </p:grpSpPr>
        <p:grpSp>
          <p:nvGrpSpPr>
            <p:cNvPr id="107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11" name="等腰三角形 110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08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09" name="等腰三角形 108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13" name="组合 10"/>
          <p:cNvGrpSpPr/>
          <p:nvPr/>
        </p:nvGrpSpPr>
        <p:grpSpPr bwMode="auto">
          <a:xfrm>
            <a:off x="4575521" y="1650326"/>
            <a:ext cx="428941" cy="309444"/>
            <a:chOff x="1469675" y="2728606"/>
            <a:chExt cx="2187070" cy="2162788"/>
          </a:xfrm>
        </p:grpSpPr>
        <p:grpSp>
          <p:nvGrpSpPr>
            <p:cNvPr id="114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18" name="等腰三角形 117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9" name="任意多边形 118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5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16" name="等腰三角形 115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20" name="组合 10"/>
          <p:cNvGrpSpPr/>
          <p:nvPr/>
        </p:nvGrpSpPr>
        <p:grpSpPr bwMode="auto">
          <a:xfrm>
            <a:off x="4594921" y="2251601"/>
            <a:ext cx="428941" cy="309444"/>
            <a:chOff x="1469675" y="2728606"/>
            <a:chExt cx="2187070" cy="2162788"/>
          </a:xfrm>
        </p:grpSpPr>
        <p:grpSp>
          <p:nvGrpSpPr>
            <p:cNvPr id="121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25" name="等腰三角形 124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6" name="任意多边形 125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22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23" name="等腰三角形 122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4" name="任意多边形 123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27" name="组合 10"/>
          <p:cNvGrpSpPr/>
          <p:nvPr/>
        </p:nvGrpSpPr>
        <p:grpSpPr bwMode="auto">
          <a:xfrm>
            <a:off x="4581071" y="2786376"/>
            <a:ext cx="428941" cy="309444"/>
            <a:chOff x="1469675" y="2728606"/>
            <a:chExt cx="2187070" cy="2162788"/>
          </a:xfrm>
        </p:grpSpPr>
        <p:grpSp>
          <p:nvGrpSpPr>
            <p:cNvPr id="128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32" name="等腰三角形 131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3" name="任意多边形 132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29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30" name="等腰三角形 129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1" name="任意多边形 130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134" name="组合 10"/>
          <p:cNvGrpSpPr/>
          <p:nvPr/>
        </p:nvGrpSpPr>
        <p:grpSpPr bwMode="auto">
          <a:xfrm>
            <a:off x="4567221" y="3304526"/>
            <a:ext cx="428941" cy="309444"/>
            <a:chOff x="1469675" y="2728606"/>
            <a:chExt cx="2187070" cy="2162788"/>
          </a:xfrm>
        </p:grpSpPr>
        <p:grpSp>
          <p:nvGrpSpPr>
            <p:cNvPr id="135" name="组合 4"/>
            <p:cNvGrpSpPr/>
            <p:nvPr/>
          </p:nvGrpSpPr>
          <p:grpSpPr bwMode="auto">
            <a:xfrm flipH="1">
              <a:off x="1469675" y="2728606"/>
              <a:ext cx="2187070" cy="1081394"/>
              <a:chOff x="4956670" y="4443106"/>
              <a:chExt cx="4884016" cy="2414894"/>
            </a:xfrm>
          </p:grpSpPr>
          <p:sp>
            <p:nvSpPr>
              <p:cNvPr id="139" name="等腰三角形 138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40" name="任意多边形 139"/>
              <p:cNvSpPr/>
              <p:nvPr/>
            </p:nvSpPr>
            <p:spPr>
              <a:xfrm>
                <a:off x="4956670" y="4443106"/>
                <a:ext cx="2437476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36" name="组合 7"/>
            <p:cNvGrpSpPr/>
            <p:nvPr/>
          </p:nvGrpSpPr>
          <p:grpSpPr bwMode="auto">
            <a:xfrm flipV="1">
              <a:off x="1469675" y="3810000"/>
              <a:ext cx="2187070" cy="1081394"/>
              <a:chOff x="4956670" y="4443106"/>
              <a:chExt cx="4884016" cy="2414894"/>
            </a:xfrm>
          </p:grpSpPr>
          <p:sp>
            <p:nvSpPr>
              <p:cNvPr id="137" name="等腰三角形 136"/>
              <p:cNvSpPr/>
              <p:nvPr/>
            </p:nvSpPr>
            <p:spPr>
              <a:xfrm>
                <a:off x="4956670" y="4443106"/>
                <a:ext cx="4884016" cy="2414894"/>
              </a:xfrm>
              <a:prstGeom prst="triangle">
                <a:avLst/>
              </a:prstGeom>
              <a:solidFill>
                <a:srgbClr val="4D86B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38" name="任意多边形 137"/>
              <p:cNvSpPr/>
              <p:nvPr/>
            </p:nvSpPr>
            <p:spPr>
              <a:xfrm>
                <a:off x="4956670" y="4443106"/>
                <a:ext cx="2446540" cy="2414894"/>
              </a:xfrm>
              <a:custGeom>
                <a:avLst/>
                <a:gdLst>
                  <a:gd name="connsiteX0" fmla="*/ 2442008 w 2442008"/>
                  <a:gd name="connsiteY0" fmla="*/ 0 h 2414894"/>
                  <a:gd name="connsiteX1" fmla="*/ 2415869 w 2442008"/>
                  <a:gd name="connsiteY1" fmla="*/ 2414894 h 2414894"/>
                  <a:gd name="connsiteX2" fmla="*/ 0 w 2442008"/>
                  <a:gd name="connsiteY2" fmla="*/ 2414894 h 2414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442008" h="2414894">
                    <a:moveTo>
                      <a:pt x="2442008" y="0"/>
                    </a:moveTo>
                    <a:lnTo>
                      <a:pt x="2415869" y="2414894"/>
                    </a:lnTo>
                    <a:lnTo>
                      <a:pt x="0" y="2414894"/>
                    </a:lnTo>
                    <a:close/>
                  </a:path>
                </a:pathLst>
              </a:custGeom>
              <a:solidFill>
                <a:srgbClr val="113A5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141" name="Copyright Notice"/>
          <p:cNvSpPr/>
          <p:nvPr/>
        </p:nvSpPr>
        <p:spPr bwMode="auto">
          <a:xfrm>
            <a:off x="5339177" y="4277363"/>
            <a:ext cx="5885780" cy="43476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9.6</a:t>
            </a:r>
            <a:r>
              <a:rPr lang="zh-CN" altLang="en-US" sz="2400" b="1" cap="small" dirty="0">
                <a:solidFill>
                  <a:srgbClr val="21537D"/>
                </a:solidFill>
                <a:latin typeface="微软雅黑" panose="020B0503020204020204" charset="-122"/>
                <a:ea typeface="微软雅黑" panose="020B0503020204020204" charset="-122"/>
              </a:rPr>
              <a:t>可见性修饰符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类和对象的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UML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表示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829808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u="sng" kern="0" dirty="0">
                <a:solidFill>
                  <a:srgbClr val="000000"/>
                </a:solidFill>
              </a:rPr>
              <a:t>C</a:t>
            </a:r>
            <a:r>
              <a:rPr lang="zh-CN" altLang="en-US" u="sng" kern="0" dirty="0">
                <a:solidFill>
                  <a:srgbClr val="000000"/>
                </a:solidFill>
              </a:rPr>
              <a:t>面向过程</a:t>
            </a:r>
            <a:r>
              <a:rPr lang="en-US" altLang="zh-CN" u="sng" kern="0" dirty="0">
                <a:solidFill>
                  <a:srgbClr val="000000"/>
                </a:solidFill>
              </a:rPr>
              <a:t>(</a:t>
            </a:r>
            <a:r>
              <a:rPr lang="zh-CN" altLang="en-US" u="sng" kern="0" dirty="0">
                <a:solidFill>
                  <a:srgbClr val="000000"/>
                </a:solidFill>
              </a:rPr>
              <a:t>或函数</a:t>
            </a:r>
            <a:r>
              <a:rPr lang="en-US" altLang="zh-CN" u="sng" kern="0" dirty="0">
                <a:solidFill>
                  <a:srgbClr val="000000"/>
                </a:solidFill>
              </a:rPr>
              <a:t>)</a:t>
            </a:r>
            <a:r>
              <a:rPr lang="zh-CN" altLang="en-US" u="sng" kern="0" dirty="0">
                <a:solidFill>
                  <a:srgbClr val="000000"/>
                </a:solidFill>
              </a:rPr>
              <a:t>设计，而</a:t>
            </a:r>
            <a:r>
              <a:rPr lang="en-US" altLang="zh-CN" u="sng" kern="0" dirty="0">
                <a:solidFill>
                  <a:srgbClr val="000000"/>
                </a:solidFill>
              </a:rPr>
              <a:t>Java</a:t>
            </a:r>
            <a:r>
              <a:rPr lang="zh-CN" altLang="en-US" u="sng" kern="0" dirty="0">
                <a:solidFill>
                  <a:srgbClr val="000000"/>
                </a:solidFill>
              </a:rPr>
              <a:t>面向对象设计。</a:t>
            </a:r>
            <a:endParaRPr lang="en-US" altLang="zh-CN" u="sng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u="sng" kern="0" dirty="0">
                <a:solidFill>
                  <a:srgbClr val="000000"/>
                </a:solidFill>
              </a:rPr>
              <a:t>对象</a:t>
            </a:r>
            <a:r>
              <a:rPr lang="en-US" altLang="zh-CN" kern="0" dirty="0">
                <a:solidFill>
                  <a:srgbClr val="000000"/>
                </a:solidFill>
              </a:rPr>
              <a:t>(object)</a:t>
            </a:r>
            <a:r>
              <a:rPr lang="zh-CN" altLang="en-US" kern="0" dirty="0">
                <a:solidFill>
                  <a:srgbClr val="000000"/>
                </a:solidFill>
              </a:rPr>
              <a:t>是现实世界中可识别</a:t>
            </a:r>
            <a:r>
              <a:rPr lang="en-US" altLang="zh-CN" kern="0" dirty="0">
                <a:solidFill>
                  <a:srgbClr val="000000"/>
                </a:solidFill>
              </a:rPr>
              <a:t>(</a:t>
            </a:r>
            <a:r>
              <a:rPr lang="zh-CN" altLang="en-US" kern="0" dirty="0">
                <a:solidFill>
                  <a:srgbClr val="000000"/>
                </a:solidFill>
              </a:rPr>
              <a:t>不一定可见</a:t>
            </a:r>
            <a:r>
              <a:rPr lang="en-US" altLang="zh-CN" kern="0" dirty="0">
                <a:solidFill>
                  <a:srgbClr val="000000"/>
                </a:solidFill>
              </a:rPr>
              <a:t>)</a:t>
            </a:r>
            <a:r>
              <a:rPr lang="zh-CN" altLang="en-US" kern="0" dirty="0">
                <a:solidFill>
                  <a:srgbClr val="000000"/>
                </a:solidFill>
              </a:rPr>
              <a:t>的实体，对象具有状态和行为。其</a:t>
            </a:r>
            <a:r>
              <a:rPr lang="zh-CN" altLang="en-US" kern="0" dirty="0">
                <a:solidFill>
                  <a:srgbClr val="FF0000"/>
                </a:solidFill>
              </a:rPr>
              <a:t>状态</a:t>
            </a:r>
            <a:r>
              <a:rPr lang="zh-CN" altLang="en-US" kern="0" dirty="0">
                <a:solidFill>
                  <a:srgbClr val="000000"/>
                </a:solidFill>
              </a:rPr>
              <a:t>是其属性的当前值，其</a:t>
            </a:r>
            <a:r>
              <a:rPr lang="zh-CN" altLang="en-US" kern="0" dirty="0">
                <a:solidFill>
                  <a:srgbClr val="FF0000"/>
                </a:solidFill>
              </a:rPr>
              <a:t>行为</a:t>
            </a:r>
            <a:r>
              <a:rPr lang="zh-CN" altLang="en-US" kern="0" dirty="0">
                <a:solidFill>
                  <a:srgbClr val="000000"/>
                </a:solidFill>
              </a:rPr>
              <a:t>是一系列方法，这些方法可改变对象的状态。对象：学生、按钮、政府等。</a:t>
            </a: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endParaRPr lang="zh-CN" altLang="en-US" kern="0" dirty="0">
              <a:solidFill>
                <a:srgbClr val="000000"/>
              </a:solidFill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830348" y="3484915"/>
            <a:ext cx="3735388" cy="1800225"/>
            <a:chOff x="927100" y="2393950"/>
            <a:chExt cx="3735388" cy="1800225"/>
          </a:xfrm>
        </p:grpSpPr>
        <p:grpSp>
          <p:nvGrpSpPr>
            <p:cNvPr id="7" name="Group 105"/>
            <p:cNvGrpSpPr>
              <a:grpSpLocks/>
            </p:cNvGrpSpPr>
            <p:nvPr/>
          </p:nvGrpSpPr>
          <p:grpSpPr bwMode="auto">
            <a:xfrm>
              <a:off x="1962150" y="2393950"/>
              <a:ext cx="1800225" cy="1800225"/>
              <a:chOff x="1236" y="1593"/>
              <a:chExt cx="1134" cy="1134"/>
            </a:xfrm>
          </p:grpSpPr>
          <p:sp>
            <p:nvSpPr>
              <p:cNvPr id="16" name="Oval 8"/>
              <p:cNvSpPr>
                <a:spLocks noChangeArrowheads="1"/>
              </p:cNvSpPr>
              <p:nvPr/>
            </p:nvSpPr>
            <p:spPr bwMode="auto">
              <a:xfrm>
                <a:off x="1236" y="1593"/>
                <a:ext cx="1134" cy="1134"/>
              </a:xfrm>
              <a:prstGeom prst="ellipse">
                <a:avLst/>
              </a:prstGeom>
              <a:solidFill>
                <a:srgbClr val="DDDDDD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Oval 9"/>
              <p:cNvSpPr>
                <a:spLocks noChangeArrowheads="1"/>
              </p:cNvSpPr>
              <p:nvPr/>
            </p:nvSpPr>
            <p:spPr bwMode="auto">
              <a:xfrm>
                <a:off x="1518" y="1874"/>
                <a:ext cx="567" cy="567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8" name="AutoShape 10"/>
              <p:cNvCxnSpPr>
                <a:cxnSpLocks noChangeShapeType="1"/>
                <a:stCxn id="17" idx="1"/>
                <a:endCxn id="16" idx="1"/>
              </p:cNvCxnSpPr>
              <p:nvPr/>
            </p:nvCxnSpPr>
            <p:spPr bwMode="auto">
              <a:xfrm flipH="1" flipV="1">
                <a:off x="1402" y="1759"/>
                <a:ext cx="199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11"/>
              <p:cNvCxnSpPr>
                <a:cxnSpLocks noChangeShapeType="1"/>
                <a:stCxn id="17" idx="7"/>
                <a:endCxn id="16" idx="7"/>
              </p:cNvCxnSpPr>
              <p:nvPr/>
            </p:nvCxnSpPr>
            <p:spPr bwMode="auto">
              <a:xfrm flipV="1">
                <a:off x="2002" y="1759"/>
                <a:ext cx="202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12"/>
              <p:cNvCxnSpPr>
                <a:cxnSpLocks noChangeShapeType="1"/>
                <a:stCxn id="17" idx="3"/>
                <a:endCxn id="16" idx="3"/>
              </p:cNvCxnSpPr>
              <p:nvPr/>
            </p:nvCxnSpPr>
            <p:spPr bwMode="auto">
              <a:xfrm flipH="1">
                <a:off x="1402" y="2358"/>
                <a:ext cx="199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13"/>
              <p:cNvCxnSpPr>
                <a:cxnSpLocks noChangeShapeType="1"/>
                <a:stCxn id="17" idx="5"/>
                <a:endCxn id="16" idx="5"/>
              </p:cNvCxnSpPr>
              <p:nvPr/>
            </p:nvCxnSpPr>
            <p:spPr bwMode="auto">
              <a:xfrm>
                <a:off x="2002" y="2358"/>
                <a:ext cx="202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2" name="Rectangle 14"/>
              <p:cNvSpPr>
                <a:spLocks noChangeArrowheads="1"/>
              </p:cNvSpPr>
              <p:nvPr/>
            </p:nvSpPr>
            <p:spPr bwMode="auto">
              <a:xfrm>
                <a:off x="1683" y="1956"/>
                <a:ext cx="91" cy="91"/>
              </a:xfrm>
              <a:prstGeom prst="rect">
                <a:avLst/>
              </a:prstGeom>
              <a:solidFill>
                <a:srgbClr val="FF66CC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AutoShape 15"/>
              <p:cNvSpPr>
                <a:spLocks noChangeArrowheads="1"/>
              </p:cNvSpPr>
              <p:nvPr/>
            </p:nvSpPr>
            <p:spPr bwMode="auto">
              <a:xfrm>
                <a:off x="1849" y="1956"/>
                <a:ext cx="91" cy="91"/>
              </a:xfrm>
              <a:prstGeom prst="diamond">
                <a:avLst/>
              </a:prstGeom>
              <a:solidFill>
                <a:srgbClr val="FF6600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AutoShape 16"/>
              <p:cNvSpPr>
                <a:spLocks noChangeArrowheads="1"/>
              </p:cNvSpPr>
              <p:nvPr/>
            </p:nvSpPr>
            <p:spPr bwMode="auto">
              <a:xfrm>
                <a:off x="1598" y="2103"/>
                <a:ext cx="91" cy="91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AutoShape 17"/>
              <p:cNvSpPr>
                <a:spLocks noChangeArrowheads="1"/>
              </p:cNvSpPr>
              <p:nvPr/>
            </p:nvSpPr>
            <p:spPr bwMode="auto">
              <a:xfrm>
                <a:off x="1680" y="2273"/>
                <a:ext cx="91" cy="91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CCFF33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AutoShape 18"/>
              <p:cNvSpPr>
                <a:spLocks noChangeArrowheads="1"/>
              </p:cNvSpPr>
              <p:nvPr/>
            </p:nvSpPr>
            <p:spPr bwMode="auto">
              <a:xfrm>
                <a:off x="1916" y="2103"/>
                <a:ext cx="91" cy="91"/>
              </a:xfrm>
              <a:custGeom>
                <a:avLst/>
                <a:gdLst>
                  <a:gd name="T0" fmla="*/ 0 w 10000"/>
                  <a:gd name="T1" fmla="*/ 0 h 10000"/>
                  <a:gd name="T2" fmla="*/ 0 w 10000"/>
                  <a:gd name="T3" fmla="*/ 0 h 10000"/>
                  <a:gd name="T4" fmla="*/ 0 w 10000"/>
                  <a:gd name="T5" fmla="*/ 0 h 10000"/>
                  <a:gd name="T6" fmla="*/ 0 w 10000"/>
                  <a:gd name="T7" fmla="*/ 0 h 10000"/>
                  <a:gd name="T8" fmla="*/ 0 w 10000"/>
                  <a:gd name="T9" fmla="*/ 0 h 10000"/>
                  <a:gd name="T10" fmla="*/ 0 w 10000"/>
                  <a:gd name="T11" fmla="*/ 0 h 10000"/>
                  <a:gd name="T12" fmla="*/ 0 w 10000"/>
                  <a:gd name="T13" fmla="*/ 0 h 10000"/>
                  <a:gd name="T14" fmla="*/ 0 w 10000"/>
                  <a:gd name="T15" fmla="*/ 0 h 10000"/>
                  <a:gd name="T16" fmla="*/ 0 w 10000"/>
                  <a:gd name="T17" fmla="*/ 0 h 10000"/>
                  <a:gd name="T18" fmla="*/ 0 w 10000"/>
                  <a:gd name="T19" fmla="*/ 0 h 10000"/>
                  <a:gd name="T20" fmla="*/ 0 w 10000"/>
                  <a:gd name="T21" fmla="*/ 0 h 100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00" h="10000">
                    <a:moveTo>
                      <a:pt x="0" y="3846"/>
                    </a:moveTo>
                    <a:lnTo>
                      <a:pt x="3846" y="3846"/>
                    </a:lnTo>
                    <a:lnTo>
                      <a:pt x="5055" y="0"/>
                    </a:lnTo>
                    <a:lnTo>
                      <a:pt x="6154" y="3846"/>
                    </a:lnTo>
                    <a:lnTo>
                      <a:pt x="10000" y="3846"/>
                    </a:lnTo>
                    <a:lnTo>
                      <a:pt x="6923" y="6154"/>
                    </a:lnTo>
                    <a:lnTo>
                      <a:pt x="8132" y="10000"/>
                    </a:lnTo>
                    <a:lnTo>
                      <a:pt x="5055" y="7692"/>
                    </a:lnTo>
                    <a:lnTo>
                      <a:pt x="1868" y="10000"/>
                    </a:lnTo>
                    <a:lnTo>
                      <a:pt x="3077" y="6154"/>
                    </a:lnTo>
                    <a:lnTo>
                      <a:pt x="0" y="3846"/>
                    </a:lnTo>
                    <a:close/>
                  </a:path>
                </a:pathLst>
              </a:custGeom>
              <a:solidFill>
                <a:srgbClr val="003366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kern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28" name="AutoShape 19"/>
              <p:cNvSpPr>
                <a:spLocks noChangeArrowheads="1"/>
              </p:cNvSpPr>
              <p:nvPr/>
            </p:nvSpPr>
            <p:spPr bwMode="auto">
              <a:xfrm>
                <a:off x="1765" y="2103"/>
                <a:ext cx="91" cy="91"/>
              </a:xfrm>
              <a:prstGeom prst="star4">
                <a:avLst>
                  <a:gd name="adj" fmla="val 12500"/>
                </a:avLst>
              </a:prstGeom>
              <a:solidFill>
                <a:srgbClr val="66FF66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Oval 20"/>
              <p:cNvSpPr>
                <a:spLocks noChangeArrowheads="1"/>
              </p:cNvSpPr>
              <p:nvPr/>
            </p:nvSpPr>
            <p:spPr bwMode="auto">
              <a:xfrm>
                <a:off x="1850" y="2273"/>
                <a:ext cx="91" cy="91"/>
              </a:xfrm>
              <a:prstGeom prst="ellipse">
                <a:avLst/>
              </a:prstGeom>
              <a:solidFill>
                <a:srgbClr val="FFCC66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" name="Text Box 23"/>
            <p:cNvSpPr txBox="1">
              <a:spLocks noChangeArrowheads="1"/>
            </p:cNvSpPr>
            <p:nvPr/>
          </p:nvSpPr>
          <p:spPr bwMode="auto">
            <a:xfrm>
              <a:off x="3868738" y="3027363"/>
              <a:ext cx="7937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状态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1600" kern="0">
                  <a:solidFill>
                    <a:srgbClr val="000000"/>
                  </a:solidFill>
                </a:rPr>
                <a:t>(</a:t>
              </a:r>
              <a:r>
                <a:rPr lang="zh-CN" altLang="en-US" sz="1600" kern="0">
                  <a:solidFill>
                    <a:srgbClr val="000000"/>
                  </a:solidFill>
                </a:rPr>
                <a:t>变量</a:t>
              </a:r>
              <a:r>
                <a:rPr lang="en-US" altLang="zh-CN" sz="1600" kern="0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9" name="Text Box 24"/>
            <p:cNvSpPr txBox="1">
              <a:spLocks noChangeArrowheads="1"/>
            </p:cNvSpPr>
            <p:nvPr/>
          </p:nvSpPr>
          <p:spPr bwMode="auto">
            <a:xfrm>
              <a:off x="927100" y="3027363"/>
              <a:ext cx="7937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行为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zh-CN" sz="1600" kern="0">
                  <a:solidFill>
                    <a:srgbClr val="000000"/>
                  </a:solidFill>
                </a:rPr>
                <a:t>(</a:t>
              </a:r>
              <a:r>
                <a:rPr lang="zh-CN" altLang="en-US" sz="1600" kern="0">
                  <a:solidFill>
                    <a:srgbClr val="000000"/>
                  </a:solidFill>
                </a:rPr>
                <a:t>方法</a:t>
              </a:r>
              <a:r>
                <a:rPr lang="en-US" altLang="zh-CN" sz="1600" kern="0">
                  <a:solidFill>
                    <a:srgbClr val="000000"/>
                  </a:solidFill>
                </a:rPr>
                <a:t>)</a:t>
              </a:r>
            </a:p>
          </p:txBody>
        </p:sp>
        <p:cxnSp>
          <p:nvCxnSpPr>
            <p:cNvPr id="10" name="AutoShape 26"/>
            <p:cNvCxnSpPr>
              <a:cxnSpLocks noChangeShapeType="1"/>
              <a:stCxn id="8" idx="1"/>
              <a:endCxn id="23" idx="3"/>
            </p:cNvCxnSpPr>
            <p:nvPr/>
          </p:nvCxnSpPr>
          <p:spPr bwMode="auto">
            <a:xfrm flipH="1" flipV="1">
              <a:off x="3079750" y="3043238"/>
              <a:ext cx="788988" cy="274637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27"/>
            <p:cNvCxnSpPr>
              <a:cxnSpLocks noChangeShapeType="1"/>
              <a:stCxn id="8" idx="1"/>
              <a:endCxn id="27" idx="4"/>
            </p:cNvCxnSpPr>
            <p:nvPr/>
          </p:nvCxnSpPr>
          <p:spPr bwMode="auto">
            <a:xfrm flipH="1" flipV="1">
              <a:off x="3186113" y="3259138"/>
              <a:ext cx="682625" cy="58737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28"/>
            <p:cNvCxnSpPr>
              <a:cxnSpLocks noChangeShapeType="1"/>
              <a:stCxn id="8" idx="1"/>
              <a:endCxn id="29" idx="6"/>
            </p:cNvCxnSpPr>
            <p:nvPr/>
          </p:nvCxnSpPr>
          <p:spPr bwMode="auto">
            <a:xfrm flipH="1">
              <a:off x="3081338" y="3317875"/>
              <a:ext cx="787400" cy="228600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30"/>
            <p:cNvCxnSpPr>
              <a:cxnSpLocks noChangeShapeType="1"/>
              <a:stCxn id="9" idx="3"/>
            </p:cNvCxnSpPr>
            <p:nvPr/>
          </p:nvCxnSpPr>
          <p:spPr bwMode="auto">
            <a:xfrm flipV="1">
              <a:off x="1720850" y="3248025"/>
              <a:ext cx="450850" cy="69850"/>
            </a:xfrm>
            <a:prstGeom prst="straightConnector1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31"/>
            <p:cNvCxnSpPr>
              <a:cxnSpLocks noChangeShapeType="1"/>
              <a:stCxn id="9" idx="3"/>
            </p:cNvCxnSpPr>
            <p:nvPr/>
          </p:nvCxnSpPr>
          <p:spPr bwMode="auto">
            <a:xfrm flipV="1">
              <a:off x="1720850" y="2570163"/>
              <a:ext cx="1095375" cy="747712"/>
            </a:xfrm>
            <a:prstGeom prst="straightConnector1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32"/>
            <p:cNvCxnSpPr>
              <a:cxnSpLocks noChangeShapeType="1"/>
              <a:stCxn id="9" idx="3"/>
            </p:cNvCxnSpPr>
            <p:nvPr/>
          </p:nvCxnSpPr>
          <p:spPr bwMode="auto">
            <a:xfrm>
              <a:off x="1720850" y="3317875"/>
              <a:ext cx="1157288" cy="701675"/>
            </a:xfrm>
            <a:prstGeom prst="straightConnector1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" name="组合 2"/>
          <p:cNvGrpSpPr>
            <a:grpSpLocks/>
          </p:cNvGrpSpPr>
          <p:nvPr/>
        </p:nvGrpSpPr>
        <p:grpSpPr bwMode="auto">
          <a:xfrm>
            <a:off x="6081673" y="3484915"/>
            <a:ext cx="3263900" cy="1800225"/>
            <a:chOff x="5178425" y="2393950"/>
            <a:chExt cx="3263900" cy="1800225"/>
          </a:xfrm>
        </p:grpSpPr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7324725" y="2655888"/>
              <a:ext cx="1098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姓名</a:t>
              </a:r>
              <a:r>
                <a:rPr lang="en-US" altLang="zh-CN" sz="1600" kern="0">
                  <a:solidFill>
                    <a:srgbClr val="000000"/>
                  </a:solidFill>
                </a:rPr>
                <a:t>:</a:t>
              </a:r>
              <a:r>
                <a:rPr lang="zh-CN" altLang="en-US" sz="1600" kern="0">
                  <a:solidFill>
                    <a:srgbClr val="000000"/>
                  </a:solidFill>
                </a:rPr>
                <a:t>张三</a:t>
              </a:r>
            </a:p>
          </p:txBody>
        </p:sp>
        <p:sp>
          <p:nvSpPr>
            <p:cNvPr id="32" name="Text Box 100"/>
            <p:cNvSpPr txBox="1">
              <a:spLocks noChangeArrowheads="1"/>
            </p:cNvSpPr>
            <p:nvPr/>
          </p:nvSpPr>
          <p:spPr bwMode="auto">
            <a:xfrm>
              <a:off x="7343775" y="3114675"/>
              <a:ext cx="1098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 dirty="0">
                  <a:solidFill>
                    <a:srgbClr val="000000"/>
                  </a:solidFill>
                </a:rPr>
                <a:t>学号</a:t>
              </a:r>
              <a:r>
                <a:rPr lang="en-US" altLang="zh-CN" sz="1600" kern="0" dirty="0">
                  <a:solidFill>
                    <a:srgbClr val="000000"/>
                  </a:solidFill>
                </a:rPr>
                <a:t>:0001</a:t>
              </a:r>
            </a:p>
          </p:txBody>
        </p:sp>
        <p:sp>
          <p:nvSpPr>
            <p:cNvPr id="33" name="Text Box 103"/>
            <p:cNvSpPr txBox="1">
              <a:spLocks noChangeArrowheads="1"/>
            </p:cNvSpPr>
            <p:nvPr/>
          </p:nvSpPr>
          <p:spPr bwMode="auto">
            <a:xfrm>
              <a:off x="7343775" y="3530600"/>
              <a:ext cx="1098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身高</a:t>
              </a:r>
              <a:r>
                <a:rPr lang="en-US" altLang="zh-CN" sz="1600" kern="0">
                  <a:solidFill>
                    <a:srgbClr val="000000"/>
                  </a:solidFill>
                </a:rPr>
                <a:t>:1.73</a:t>
              </a:r>
            </a:p>
          </p:txBody>
        </p:sp>
        <p:grpSp>
          <p:nvGrpSpPr>
            <p:cNvPr id="34" name="Group 106"/>
            <p:cNvGrpSpPr>
              <a:grpSpLocks/>
            </p:cNvGrpSpPr>
            <p:nvPr/>
          </p:nvGrpSpPr>
          <p:grpSpPr bwMode="auto">
            <a:xfrm>
              <a:off x="5227638" y="2393950"/>
              <a:ext cx="1800225" cy="1800225"/>
              <a:chOff x="1236" y="1593"/>
              <a:chExt cx="1134" cy="1134"/>
            </a:xfrm>
          </p:grpSpPr>
          <p:sp>
            <p:nvSpPr>
              <p:cNvPr id="41" name="Oval 107"/>
              <p:cNvSpPr>
                <a:spLocks noChangeArrowheads="1"/>
              </p:cNvSpPr>
              <p:nvPr/>
            </p:nvSpPr>
            <p:spPr bwMode="auto">
              <a:xfrm>
                <a:off x="1236" y="1593"/>
                <a:ext cx="1134" cy="1134"/>
              </a:xfrm>
              <a:prstGeom prst="ellipse">
                <a:avLst/>
              </a:prstGeom>
              <a:solidFill>
                <a:srgbClr val="DDDDDD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Oval 108"/>
              <p:cNvSpPr>
                <a:spLocks noChangeArrowheads="1"/>
              </p:cNvSpPr>
              <p:nvPr/>
            </p:nvSpPr>
            <p:spPr bwMode="auto">
              <a:xfrm>
                <a:off x="1518" y="1874"/>
                <a:ext cx="567" cy="567"/>
              </a:xfrm>
              <a:prstGeom prst="ellipse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43" name="AutoShape 109"/>
              <p:cNvCxnSpPr>
                <a:cxnSpLocks noChangeShapeType="1"/>
                <a:stCxn id="42" idx="1"/>
                <a:endCxn id="41" idx="1"/>
              </p:cNvCxnSpPr>
              <p:nvPr/>
            </p:nvCxnSpPr>
            <p:spPr bwMode="auto">
              <a:xfrm flipH="1" flipV="1">
                <a:off x="1402" y="1759"/>
                <a:ext cx="199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AutoShape 110"/>
              <p:cNvCxnSpPr>
                <a:cxnSpLocks noChangeShapeType="1"/>
                <a:stCxn id="42" idx="7"/>
                <a:endCxn id="41" idx="7"/>
              </p:cNvCxnSpPr>
              <p:nvPr/>
            </p:nvCxnSpPr>
            <p:spPr bwMode="auto">
              <a:xfrm flipV="1">
                <a:off x="2002" y="1759"/>
                <a:ext cx="202" cy="19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111"/>
              <p:cNvCxnSpPr>
                <a:cxnSpLocks noChangeShapeType="1"/>
                <a:stCxn id="42" idx="3"/>
                <a:endCxn id="41" idx="3"/>
              </p:cNvCxnSpPr>
              <p:nvPr/>
            </p:nvCxnSpPr>
            <p:spPr bwMode="auto">
              <a:xfrm flipH="1">
                <a:off x="1402" y="2358"/>
                <a:ext cx="199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AutoShape 112"/>
              <p:cNvCxnSpPr>
                <a:cxnSpLocks noChangeShapeType="1"/>
                <a:stCxn id="42" idx="5"/>
                <a:endCxn id="41" idx="5"/>
              </p:cNvCxnSpPr>
              <p:nvPr/>
            </p:nvCxnSpPr>
            <p:spPr bwMode="auto">
              <a:xfrm>
                <a:off x="2002" y="2358"/>
                <a:ext cx="202" cy="20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" name="Rectangle 113"/>
              <p:cNvSpPr>
                <a:spLocks noChangeArrowheads="1"/>
              </p:cNvSpPr>
              <p:nvPr/>
            </p:nvSpPr>
            <p:spPr bwMode="auto">
              <a:xfrm>
                <a:off x="1683" y="1956"/>
                <a:ext cx="91" cy="91"/>
              </a:xfrm>
              <a:prstGeom prst="rect">
                <a:avLst/>
              </a:prstGeom>
              <a:solidFill>
                <a:srgbClr val="FF66CC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AutoShape 114"/>
              <p:cNvSpPr>
                <a:spLocks noChangeArrowheads="1"/>
              </p:cNvSpPr>
              <p:nvPr/>
            </p:nvSpPr>
            <p:spPr bwMode="auto">
              <a:xfrm>
                <a:off x="1849" y="1956"/>
                <a:ext cx="91" cy="91"/>
              </a:xfrm>
              <a:prstGeom prst="diamond">
                <a:avLst/>
              </a:prstGeom>
              <a:solidFill>
                <a:srgbClr val="FF6600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AutoShape 115"/>
              <p:cNvSpPr>
                <a:spLocks noChangeArrowheads="1"/>
              </p:cNvSpPr>
              <p:nvPr/>
            </p:nvSpPr>
            <p:spPr bwMode="auto">
              <a:xfrm>
                <a:off x="1598" y="2103"/>
                <a:ext cx="91" cy="91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AutoShape 116"/>
              <p:cNvSpPr>
                <a:spLocks noChangeArrowheads="1"/>
              </p:cNvSpPr>
              <p:nvPr/>
            </p:nvSpPr>
            <p:spPr bwMode="auto">
              <a:xfrm>
                <a:off x="1680" y="2273"/>
                <a:ext cx="91" cy="91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CCFF33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AutoShape 117"/>
              <p:cNvSpPr>
                <a:spLocks noChangeArrowheads="1"/>
              </p:cNvSpPr>
              <p:nvPr/>
            </p:nvSpPr>
            <p:spPr bwMode="auto">
              <a:xfrm>
                <a:off x="1916" y="2103"/>
                <a:ext cx="91" cy="91"/>
              </a:xfrm>
              <a:custGeom>
                <a:avLst/>
                <a:gdLst>
                  <a:gd name="T0" fmla="*/ 0 w 10000"/>
                  <a:gd name="T1" fmla="*/ 0 h 10000"/>
                  <a:gd name="T2" fmla="*/ 0 w 10000"/>
                  <a:gd name="T3" fmla="*/ 0 h 10000"/>
                  <a:gd name="T4" fmla="*/ 0 w 10000"/>
                  <a:gd name="T5" fmla="*/ 0 h 10000"/>
                  <a:gd name="T6" fmla="*/ 0 w 10000"/>
                  <a:gd name="T7" fmla="*/ 0 h 10000"/>
                  <a:gd name="T8" fmla="*/ 0 w 10000"/>
                  <a:gd name="T9" fmla="*/ 0 h 10000"/>
                  <a:gd name="T10" fmla="*/ 0 w 10000"/>
                  <a:gd name="T11" fmla="*/ 0 h 10000"/>
                  <a:gd name="T12" fmla="*/ 0 w 10000"/>
                  <a:gd name="T13" fmla="*/ 0 h 10000"/>
                  <a:gd name="T14" fmla="*/ 0 w 10000"/>
                  <a:gd name="T15" fmla="*/ 0 h 10000"/>
                  <a:gd name="T16" fmla="*/ 0 w 10000"/>
                  <a:gd name="T17" fmla="*/ 0 h 10000"/>
                  <a:gd name="T18" fmla="*/ 0 w 10000"/>
                  <a:gd name="T19" fmla="*/ 0 h 10000"/>
                  <a:gd name="T20" fmla="*/ 0 w 10000"/>
                  <a:gd name="T21" fmla="*/ 0 h 100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00" h="10000">
                    <a:moveTo>
                      <a:pt x="0" y="3846"/>
                    </a:moveTo>
                    <a:lnTo>
                      <a:pt x="3846" y="3846"/>
                    </a:lnTo>
                    <a:lnTo>
                      <a:pt x="5055" y="0"/>
                    </a:lnTo>
                    <a:lnTo>
                      <a:pt x="6154" y="3846"/>
                    </a:lnTo>
                    <a:lnTo>
                      <a:pt x="10000" y="3846"/>
                    </a:lnTo>
                    <a:lnTo>
                      <a:pt x="6923" y="6154"/>
                    </a:lnTo>
                    <a:lnTo>
                      <a:pt x="8132" y="10000"/>
                    </a:lnTo>
                    <a:lnTo>
                      <a:pt x="5055" y="7692"/>
                    </a:lnTo>
                    <a:lnTo>
                      <a:pt x="1868" y="10000"/>
                    </a:lnTo>
                    <a:lnTo>
                      <a:pt x="3077" y="6154"/>
                    </a:lnTo>
                    <a:lnTo>
                      <a:pt x="0" y="3846"/>
                    </a:lnTo>
                    <a:close/>
                  </a:path>
                </a:pathLst>
              </a:custGeom>
              <a:solidFill>
                <a:srgbClr val="003366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 kern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  <p:sp>
            <p:nvSpPr>
              <p:cNvPr id="52" name="AutoShape 118"/>
              <p:cNvSpPr>
                <a:spLocks noChangeArrowheads="1"/>
              </p:cNvSpPr>
              <p:nvPr/>
            </p:nvSpPr>
            <p:spPr bwMode="auto">
              <a:xfrm>
                <a:off x="1765" y="2103"/>
                <a:ext cx="91" cy="91"/>
              </a:xfrm>
              <a:prstGeom prst="star4">
                <a:avLst>
                  <a:gd name="adj" fmla="val 12500"/>
                </a:avLst>
              </a:prstGeom>
              <a:solidFill>
                <a:srgbClr val="66FF66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Oval 119"/>
              <p:cNvSpPr>
                <a:spLocks noChangeArrowheads="1"/>
              </p:cNvSpPr>
              <p:nvPr/>
            </p:nvSpPr>
            <p:spPr bwMode="auto">
              <a:xfrm>
                <a:off x="1850" y="2273"/>
                <a:ext cx="91" cy="91"/>
              </a:xfrm>
              <a:prstGeom prst="ellipse">
                <a:avLst/>
              </a:prstGeom>
              <a:solidFill>
                <a:srgbClr val="FFCC66"/>
              </a:solidFill>
              <a:ln w="9525" algn="ctr">
                <a:solidFill>
                  <a:srgbClr val="00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DDDDDD"/>
                </a:outerShdw>
              </a:effec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</a:pPr>
                <a:endParaRPr lang="zh-CN" altLang="en-US" sz="1600" kern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35" name="AutoShape 120"/>
            <p:cNvCxnSpPr>
              <a:cxnSpLocks noChangeShapeType="1"/>
              <a:stCxn id="31" idx="1"/>
              <a:endCxn id="48" idx="3"/>
            </p:cNvCxnSpPr>
            <p:nvPr/>
          </p:nvCxnSpPr>
          <p:spPr bwMode="auto">
            <a:xfrm flipH="1">
              <a:off x="6345238" y="2824163"/>
              <a:ext cx="979487" cy="219075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121"/>
            <p:cNvCxnSpPr>
              <a:cxnSpLocks noChangeShapeType="1"/>
              <a:stCxn id="32" idx="1"/>
              <a:endCxn id="51" idx="4"/>
            </p:cNvCxnSpPr>
            <p:nvPr/>
          </p:nvCxnSpPr>
          <p:spPr bwMode="auto">
            <a:xfrm flipH="1" flipV="1">
              <a:off x="6451600" y="3259138"/>
              <a:ext cx="892175" cy="23812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AutoShape 122"/>
            <p:cNvCxnSpPr>
              <a:cxnSpLocks noChangeShapeType="1"/>
              <a:stCxn id="33" idx="1"/>
              <a:endCxn id="53" idx="6"/>
            </p:cNvCxnSpPr>
            <p:nvPr/>
          </p:nvCxnSpPr>
          <p:spPr bwMode="auto">
            <a:xfrm flipH="1" flipV="1">
              <a:off x="6346825" y="3546475"/>
              <a:ext cx="996950" cy="152400"/>
            </a:xfrm>
            <a:prstGeom prst="straightConnector1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" name="Text Box 123"/>
            <p:cNvSpPr txBox="1">
              <a:spLocks noChangeArrowheads="1"/>
            </p:cNvSpPr>
            <p:nvPr/>
          </p:nvSpPr>
          <p:spPr bwMode="auto">
            <a:xfrm>
              <a:off x="5853113" y="2462213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学习</a:t>
              </a:r>
            </a:p>
          </p:txBody>
        </p:sp>
        <p:sp>
          <p:nvSpPr>
            <p:cNvPr id="39" name="Text Box 124"/>
            <p:cNvSpPr txBox="1">
              <a:spLocks noChangeArrowheads="1"/>
            </p:cNvSpPr>
            <p:nvPr/>
          </p:nvSpPr>
          <p:spPr bwMode="auto">
            <a:xfrm>
              <a:off x="5178425" y="311467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工作</a:t>
              </a:r>
            </a:p>
          </p:txBody>
        </p:sp>
        <p:sp>
          <p:nvSpPr>
            <p:cNvPr id="40" name="Text Box 125"/>
            <p:cNvSpPr txBox="1">
              <a:spLocks noChangeArrowheads="1"/>
            </p:cNvSpPr>
            <p:nvPr/>
          </p:nvSpPr>
          <p:spPr bwMode="auto">
            <a:xfrm>
              <a:off x="5861050" y="376237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zh-CN" altLang="en-US" sz="1600" kern="0">
                  <a:solidFill>
                    <a:srgbClr val="000000"/>
                  </a:solidFill>
                </a:rPr>
                <a:t>娱乐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5659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7394575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类和对象的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UML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表示</a:t>
            </a:r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1353916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u="sng" kern="0" dirty="0">
                <a:solidFill>
                  <a:srgbClr val="000000"/>
                </a:solidFill>
              </a:rPr>
              <a:t>类</a:t>
            </a:r>
            <a:r>
              <a:rPr lang="en-US" altLang="zh-CN" kern="0" dirty="0">
                <a:solidFill>
                  <a:srgbClr val="000000"/>
                </a:solidFill>
              </a:rPr>
              <a:t>(class)</a:t>
            </a:r>
            <a:r>
              <a:rPr lang="zh-CN" altLang="en-US" kern="0" dirty="0">
                <a:solidFill>
                  <a:srgbClr val="000000"/>
                </a:solidFill>
              </a:rPr>
              <a:t>定义或封装同类对象共有的属性和方法，即将同类型对象共有的属性和行为抽象出来形成类的定义。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例如要开发学生管理系统，根据应用需求，我们发现所有学生的以下共有属性和行为需要管理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2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属性：学号、姓名、性别、所在学院、年级、班级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2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行为：考试、上课、完成作业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因此形成类的定义：</a:t>
            </a:r>
            <a:r>
              <a:rPr lang="en-US" altLang="zh-CN" kern="0" dirty="0">
                <a:solidFill>
                  <a:srgbClr val="000000"/>
                </a:solidFill>
              </a:rPr>
              <a:t>Class Student{ … },</a:t>
            </a:r>
            <a:r>
              <a:rPr lang="zh-CN" altLang="en-US" kern="0" dirty="0">
                <a:solidFill>
                  <a:srgbClr val="000000"/>
                </a:solidFill>
              </a:rPr>
              <a:t>属性作为数据成员，行为作为方法成员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同一类型的对象有相同的属性和方法，但每个对象的属性值不同。</a:t>
            </a:r>
          </a:p>
          <a:p>
            <a:pPr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类</a:t>
            </a:r>
            <a:r>
              <a:rPr lang="en-US" altLang="zh-CN" kern="0" dirty="0">
                <a:solidFill>
                  <a:srgbClr val="000000"/>
                </a:solidFill>
              </a:rPr>
              <a:t>(</a:t>
            </a:r>
            <a:r>
              <a:rPr lang="zh-CN" altLang="en-US" kern="0" dirty="0">
                <a:solidFill>
                  <a:srgbClr val="000000"/>
                </a:solidFill>
              </a:rPr>
              <a:t>类型简称</a:t>
            </a:r>
            <a:r>
              <a:rPr lang="en-US" altLang="zh-CN" kern="0" dirty="0">
                <a:solidFill>
                  <a:srgbClr val="000000"/>
                </a:solidFill>
              </a:rPr>
              <a:t>)</a:t>
            </a:r>
            <a:r>
              <a:rPr lang="zh-CN" altLang="en-US" kern="0" dirty="0">
                <a:solidFill>
                  <a:srgbClr val="000000"/>
                </a:solidFill>
              </a:rPr>
              <a:t>是对象的模板、蓝图。</a:t>
            </a:r>
            <a:r>
              <a:rPr lang="zh-CN" altLang="en-US" kern="0" dirty="0">
                <a:solidFill>
                  <a:srgbClr val="FF0000"/>
                </a:solidFill>
              </a:rPr>
              <a:t>对象是类的实例</a:t>
            </a:r>
            <a:r>
              <a:rPr lang="zh-CN" altLang="en-US" kern="0" dirty="0">
                <a:solidFill>
                  <a:srgbClr val="000000"/>
                </a:solidFill>
              </a:rPr>
              <a:t>。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kern="0" dirty="0">
                <a:solidFill>
                  <a:srgbClr val="000000"/>
                </a:solidFill>
              </a:rPr>
              <a:t>当定义好类</a:t>
            </a:r>
            <a:r>
              <a:rPr lang="en-US" altLang="zh-CN" kern="0" dirty="0">
                <a:solidFill>
                  <a:srgbClr val="000000"/>
                </a:solidFill>
              </a:rPr>
              <a:t>Student</a:t>
            </a:r>
            <a:r>
              <a:rPr lang="zh-CN" altLang="en-US" kern="0" dirty="0">
                <a:solidFill>
                  <a:srgbClr val="000000"/>
                </a:solidFill>
              </a:rPr>
              <a:t>，可以用类型</a:t>
            </a:r>
            <a:r>
              <a:rPr lang="en-US" altLang="zh-CN" kern="0" dirty="0">
                <a:solidFill>
                  <a:srgbClr val="000000"/>
                </a:solidFill>
              </a:rPr>
              <a:t>Student</a:t>
            </a:r>
            <a:r>
              <a:rPr lang="zh-CN" altLang="en-US" kern="0" dirty="0">
                <a:solidFill>
                  <a:srgbClr val="000000"/>
                </a:solidFill>
              </a:rPr>
              <a:t>去实例化不同对象代表不同学生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kern="0" dirty="0">
                <a:solidFill>
                  <a:srgbClr val="000000"/>
                </a:solidFill>
              </a:rPr>
              <a:t>Student s = new Student(…)</a:t>
            </a:r>
            <a:endParaRPr lang="zh-CN" altLang="en-US" kern="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73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9.1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类和对象的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UML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表示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608774" y="2153034"/>
            <a:ext cx="1301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类的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UML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</a:t>
            </a:r>
          </a:p>
        </p:txBody>
      </p:sp>
      <p:sp>
        <p:nvSpPr>
          <p:cNvPr id="5" name="AutoShape 7"/>
          <p:cNvSpPr>
            <a:spLocks/>
          </p:cNvSpPr>
          <p:nvPr/>
        </p:nvSpPr>
        <p:spPr bwMode="auto">
          <a:xfrm>
            <a:off x="240224" y="2640397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类名</a:t>
            </a:r>
          </a:p>
        </p:txBody>
      </p:sp>
      <p:sp>
        <p:nvSpPr>
          <p:cNvPr id="6" name="AutoShape 8"/>
          <p:cNvSpPr>
            <a:spLocks/>
          </p:cNvSpPr>
          <p:nvPr/>
        </p:nvSpPr>
        <p:spPr bwMode="auto">
          <a:xfrm>
            <a:off x="240224" y="2957897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数据字段</a:t>
            </a:r>
          </a:p>
        </p:txBody>
      </p:sp>
      <p:sp>
        <p:nvSpPr>
          <p:cNvPr id="7" name="AutoShape 9"/>
          <p:cNvSpPr>
            <a:spLocks/>
          </p:cNvSpPr>
          <p:nvPr/>
        </p:nvSpPr>
        <p:spPr bwMode="auto">
          <a:xfrm>
            <a:off x="240224" y="3683384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方法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097599" y="5394709"/>
            <a:ext cx="1504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对象的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UML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</a:t>
            </a:r>
          </a:p>
        </p:txBody>
      </p:sp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87" y="5796347"/>
            <a:ext cx="253682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13"/>
          <p:cNvSpPr>
            <a:spLocks/>
          </p:cNvSpPr>
          <p:nvPr/>
        </p:nvSpPr>
        <p:spPr bwMode="auto">
          <a:xfrm>
            <a:off x="4539174" y="5959859"/>
            <a:ext cx="1317625" cy="222250"/>
          </a:xfrm>
          <a:prstGeom prst="accentCallout2">
            <a:avLst>
              <a:gd name="adj1" fmla="val 51431"/>
              <a:gd name="adj2" fmla="val -5782"/>
              <a:gd name="adj3" fmla="val 51431"/>
              <a:gd name="adj4" fmla="val -16384"/>
              <a:gd name="adj5" fmla="val -14287"/>
              <a:gd name="adj6" fmla="val -24458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对象名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: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类名</a:t>
            </a:r>
          </a:p>
        </p:txBody>
      </p:sp>
      <p:sp>
        <p:nvSpPr>
          <p:cNvPr id="11" name="AutoShape 14"/>
          <p:cNvSpPr>
            <a:spLocks/>
          </p:cNvSpPr>
          <p:nvPr/>
        </p:nvSpPr>
        <p:spPr bwMode="auto">
          <a:xfrm>
            <a:off x="4539174" y="6340859"/>
            <a:ext cx="1317625" cy="222250"/>
          </a:xfrm>
          <a:prstGeom prst="accentCallout2">
            <a:avLst>
              <a:gd name="adj1" fmla="val 51431"/>
              <a:gd name="adj2" fmla="val -5782"/>
              <a:gd name="adj3" fmla="val 51431"/>
              <a:gd name="adj4" fmla="val -16384"/>
              <a:gd name="adj5" fmla="val -14287"/>
              <a:gd name="adj6" fmla="val -24458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数据字段值</a:t>
            </a:r>
          </a:p>
        </p:txBody>
      </p:sp>
      <p:sp>
        <p:nvSpPr>
          <p:cNvPr id="12" name="AutoShape 16"/>
          <p:cNvSpPr>
            <a:spLocks/>
          </p:cNvSpPr>
          <p:nvPr/>
        </p:nvSpPr>
        <p:spPr bwMode="auto">
          <a:xfrm>
            <a:off x="240224" y="3321434"/>
            <a:ext cx="1076325" cy="222250"/>
          </a:xfrm>
          <a:prstGeom prst="accentCallout2">
            <a:avLst>
              <a:gd name="adj1" fmla="val 51431"/>
              <a:gd name="adj2" fmla="val 107079"/>
              <a:gd name="adj3" fmla="val 51431"/>
              <a:gd name="adj4" fmla="val 118731"/>
              <a:gd name="adj5" fmla="val -2144"/>
              <a:gd name="adj6" fmla="val 130824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构造函数</a:t>
            </a:r>
          </a:p>
        </p:txBody>
      </p:sp>
      <p:sp>
        <p:nvSpPr>
          <p:cNvPr id="13" name="AutoShape 13"/>
          <p:cNvSpPr>
            <a:spLocks noChangeAspect="1" noChangeArrowheads="1"/>
          </p:cNvSpPr>
          <p:nvPr/>
        </p:nvSpPr>
        <p:spPr bwMode="auto">
          <a:xfrm>
            <a:off x="1648337" y="2557847"/>
            <a:ext cx="3232150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324362" y="4223134"/>
            <a:ext cx="773623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成员访问权限：公有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+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表示，保护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protected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#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表示，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       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私有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private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用</a:t>
            </a:r>
            <a:r>
              <a:rPr lang="en-US" altLang="zh-CN" sz="1600" kern="0" dirty="0">
                <a:solidFill>
                  <a:srgbClr val="000000"/>
                </a:solidFill>
              </a:rPr>
              <a:t>-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表示，包级用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~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表示或默认无表示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包级即可以被同一个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package</a:t>
            </a:r>
            <a:r>
              <a:rPr lang="zh-CN" altLang="en-US" sz="1600" kern="0" dirty="0">
                <a:solidFill>
                  <a:srgbClr val="0000CC"/>
                </a:solidFill>
              </a:rPr>
              <a:t>的代码访问的成员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。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Java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friend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，无析构函数，垃圾自动回收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87" y="2511809"/>
            <a:ext cx="32194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2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AAF60C-A4FA-4366-BF44-F9472AE2EAC0}"/>
              </a:ext>
            </a:extLst>
          </p:cNvPr>
          <p:cNvSpPr/>
          <p:nvPr/>
        </p:nvSpPr>
        <p:spPr>
          <a:xfrm>
            <a:off x="6324391" y="1360812"/>
            <a:ext cx="52951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：广泛应用的面向对象设计的的建模工具，但独立于任何具体程序设计语言。作为一种建模语言，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严格的语法和语义规范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。对于复杂系统，先用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建模，再编写代码。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工具会自动把模型编译成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Java(C++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）源码（方法体是空的）</a:t>
            </a:r>
            <a:endParaRPr lang="en-US" altLang="zh-CN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采用一组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图形符号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来描述软件模型，这些图形符号简单、直观和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。所描述的软件模型，可以直观地理解和阅读，由于具有规范性，所以能够保证模型的准确、一致。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58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定义类并用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new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创建其对象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4675" y="1341438"/>
            <a:ext cx="800100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圆类及其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3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个对象：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数据字段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即圆类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属性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说明：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无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struct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union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28663" y="1836738"/>
            <a:ext cx="7224712" cy="4062651"/>
            <a:chOff x="728663" y="1836738"/>
            <a:chExt cx="7224712" cy="4062651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1643063" y="1836738"/>
              <a:ext cx="5969772" cy="4062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class Circle 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double radius = 1.0;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Circle() 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radius = 1.0;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} 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Circle(double r) 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radius = r;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}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double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findArea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() 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return radius * radius * 3.14159;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}</a:t>
              </a:r>
              <a:b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</a:b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}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Circle c1=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new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Circle(), c2=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new</a:t>
              </a:r>
              <a:r>
                <a:rPr kumimoji="0" lang="en-US" altLang="zh-CN" sz="18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Circle(10</a:t>
              </a:r>
              <a:r>
                <a:rPr lang="en-US" altLang="zh-CN" sz="1800" kern="0" dirty="0">
                  <a:solidFill>
                    <a:srgbClr val="000000"/>
                  </a:solidFill>
                </a:rPr>
                <a:t>.0</a:t>
              </a:r>
              <a:r>
                <a:rPr kumimoji="0" lang="en-US" altLang="zh-CN" sz="1800" b="0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);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0" name="Rectangle 53"/>
            <p:cNvSpPr>
              <a:spLocks noChangeArrowheads="1"/>
            </p:cNvSpPr>
            <p:nvPr/>
          </p:nvSpPr>
          <p:spPr bwMode="auto">
            <a:xfrm>
              <a:off x="1951038" y="2573338"/>
              <a:ext cx="2339975" cy="1800225"/>
            </a:xfrm>
            <a:prstGeom prst="rect">
              <a:avLst/>
            </a:prstGeom>
            <a:solidFill>
              <a:srgbClr val="CCFFFF">
                <a:alpha val="20000"/>
              </a:srgbClr>
            </a:solidFill>
            <a:ln w="9525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943100" y="2168525"/>
              <a:ext cx="2339975" cy="252413"/>
            </a:xfrm>
            <a:prstGeom prst="rect">
              <a:avLst/>
            </a:prstGeom>
            <a:solidFill>
              <a:srgbClr val="CCFFCC">
                <a:alpha val="20000"/>
              </a:srgbClr>
            </a:solidFill>
            <a:ln w="9525" algn="ctr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943100" y="4508500"/>
              <a:ext cx="3690938" cy="863600"/>
            </a:xfrm>
            <a:prstGeom prst="rect">
              <a:avLst/>
            </a:prstGeom>
            <a:solidFill>
              <a:srgbClr val="FF99CC">
                <a:alpha val="20000"/>
              </a:srgbClr>
            </a:solidFill>
            <a:ln w="9525" algn="ctr">
              <a:solidFill>
                <a:srgbClr val="FF99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3" name="AutoShape 18"/>
            <p:cNvSpPr>
              <a:spLocks/>
            </p:cNvSpPr>
            <p:nvPr/>
          </p:nvSpPr>
          <p:spPr bwMode="auto">
            <a:xfrm>
              <a:off x="728663" y="4824413"/>
              <a:ext cx="914400" cy="222250"/>
            </a:xfrm>
            <a:prstGeom prst="accentCallout2">
              <a:avLst>
                <a:gd name="adj1" fmla="val 51431"/>
                <a:gd name="adj2" fmla="val 108333"/>
                <a:gd name="adj3" fmla="val 51431"/>
                <a:gd name="adj4" fmla="val 120315"/>
                <a:gd name="adj5" fmla="val -2144"/>
                <a:gd name="adj6" fmla="val 132815"/>
              </a:avLst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方法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6423025" y="1893888"/>
              <a:ext cx="1479550" cy="584775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1600" kern="0" dirty="0">
                  <a:solidFill>
                    <a:srgbClr val="000000"/>
                  </a:solidFill>
                </a:rPr>
                <a:t>c1:Circle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radius=1.0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6591300" y="2882900"/>
              <a:ext cx="1311275" cy="59055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1600" kern="0" dirty="0">
                  <a:solidFill>
                    <a:srgbClr val="000000"/>
                  </a:solidFill>
                </a:rPr>
                <a:t>c2:Circle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radius=10.0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642100" y="4143375"/>
              <a:ext cx="1311275" cy="59055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1600" kern="0" dirty="0">
                  <a:solidFill>
                    <a:srgbClr val="000000"/>
                  </a:solidFill>
                </a:rPr>
                <a:t>c3:Circle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radius=15.0</a:t>
              </a: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5021263" y="2168525"/>
              <a:ext cx="1350962" cy="900113"/>
            </a:xfrm>
            <a:prstGeom prst="line">
              <a:avLst/>
            </a:prstGeom>
            <a:noFill/>
            <a:ln w="9525">
              <a:solidFill>
                <a:srgbClr val="A3B2C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5021263" y="3203575"/>
              <a:ext cx="1570037" cy="0"/>
            </a:xfrm>
            <a:prstGeom prst="line">
              <a:avLst/>
            </a:prstGeom>
            <a:noFill/>
            <a:ln w="9525">
              <a:solidFill>
                <a:srgbClr val="A3B2C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021263" y="3563938"/>
              <a:ext cx="1570037" cy="809625"/>
            </a:xfrm>
            <a:prstGeom prst="line">
              <a:avLst/>
            </a:prstGeom>
            <a:noFill/>
            <a:ln w="9525">
              <a:solidFill>
                <a:srgbClr val="A3B2C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</p:grpSp>
      <p:sp>
        <p:nvSpPr>
          <p:cNvPr id="20" name="AutoShape 18">
            <a:extLst>
              <a:ext uri="{FF2B5EF4-FFF2-40B4-BE49-F238E27FC236}">
                <a16:creationId xmlns:a16="http://schemas.microsoft.com/office/drawing/2014/main" id="{9968E2C6-A08B-4EDB-B141-E0DEC6330265}"/>
              </a:ext>
            </a:extLst>
          </p:cNvPr>
          <p:cNvSpPr>
            <a:spLocks/>
          </p:cNvSpPr>
          <p:nvPr/>
        </p:nvSpPr>
        <p:spPr bwMode="auto">
          <a:xfrm>
            <a:off x="574675" y="3429000"/>
            <a:ext cx="1042988" cy="222250"/>
          </a:xfrm>
          <a:prstGeom prst="accentCallout2">
            <a:avLst>
              <a:gd name="adj1" fmla="val 51431"/>
              <a:gd name="adj2" fmla="val 108333"/>
              <a:gd name="adj3" fmla="val 51431"/>
              <a:gd name="adj4" fmla="val 120315"/>
              <a:gd name="adj5" fmla="val -2144"/>
              <a:gd name="adj6" fmla="val 132815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构造函数</a:t>
            </a:r>
          </a:p>
        </p:txBody>
      </p:sp>
      <p:sp>
        <p:nvSpPr>
          <p:cNvPr id="21" name="AutoShape 18">
            <a:extLst>
              <a:ext uri="{FF2B5EF4-FFF2-40B4-BE49-F238E27FC236}">
                <a16:creationId xmlns:a16="http://schemas.microsoft.com/office/drawing/2014/main" id="{334C6EB4-A46B-429A-ADDD-1DDF0FBDC529}"/>
              </a:ext>
            </a:extLst>
          </p:cNvPr>
          <p:cNvSpPr>
            <a:spLocks/>
          </p:cNvSpPr>
          <p:nvPr/>
        </p:nvSpPr>
        <p:spPr bwMode="auto">
          <a:xfrm>
            <a:off x="506413" y="2255837"/>
            <a:ext cx="1042988" cy="222250"/>
          </a:xfrm>
          <a:prstGeom prst="accentCallout2">
            <a:avLst>
              <a:gd name="adj1" fmla="val 51431"/>
              <a:gd name="adj2" fmla="val 108333"/>
              <a:gd name="adj3" fmla="val 51431"/>
              <a:gd name="adj4" fmla="val 120315"/>
              <a:gd name="adj5" fmla="val -2144"/>
              <a:gd name="adj6" fmla="val 132815"/>
            </a:avLst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数据成员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781DE95-9786-407C-AF1F-F3E0D13FFFD3}"/>
              </a:ext>
            </a:extLst>
          </p:cNvPr>
          <p:cNvGrpSpPr/>
          <p:nvPr/>
        </p:nvGrpSpPr>
        <p:grpSpPr>
          <a:xfrm>
            <a:off x="7297737" y="5741601"/>
            <a:ext cx="3599213" cy="800725"/>
            <a:chOff x="6544447" y="5597912"/>
            <a:chExt cx="3599213" cy="800725"/>
          </a:xfrm>
        </p:grpSpPr>
        <p:sp>
          <p:nvSpPr>
            <p:cNvPr id="3" name="对话气泡: 圆角矩形 2">
              <a:extLst>
                <a:ext uri="{FF2B5EF4-FFF2-40B4-BE49-F238E27FC236}">
                  <a16:creationId xmlns:a16="http://schemas.microsoft.com/office/drawing/2014/main" id="{EB8992CD-0E9A-4019-BE7B-28B5D35A6CA0}"/>
                </a:ext>
              </a:extLst>
            </p:cNvPr>
            <p:cNvSpPr/>
            <p:nvPr/>
          </p:nvSpPr>
          <p:spPr>
            <a:xfrm>
              <a:off x="6591300" y="5597912"/>
              <a:ext cx="3552360" cy="800725"/>
            </a:xfrm>
            <a:prstGeom prst="wedgeRoundRectCallout">
              <a:avLst>
                <a:gd name="adj1" fmla="val -64809"/>
                <a:gd name="adj2" fmla="val -39162"/>
                <a:gd name="adj3" fmla="val 16667"/>
              </a:avLst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7448422-702C-4D54-83D3-09082A2ABA6F}"/>
                </a:ext>
              </a:extLst>
            </p:cNvPr>
            <p:cNvSpPr txBox="1"/>
            <p:nvPr/>
          </p:nvSpPr>
          <p:spPr>
            <a:xfrm>
              <a:off x="6544447" y="5677213"/>
              <a:ext cx="30524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new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会自动调用构造函数，根据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实参确定调用哪个构造函数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90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9.2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定义类并用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new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创建其对象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122663" y="1341438"/>
            <a:ext cx="1193180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与基本数据类型一样，可声明并用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new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创建对象数组。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  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[]a=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new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int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[10];//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所有元素缺省初值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=0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当创建对象数组时，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数组元素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的缺省初值为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null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Circle[] circleArray =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new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Circle[10];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这时没有构造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</a:t>
            </a:r>
            <a:r>
              <a:rPr lang="zh-CN" altLang="en-US" kern="0" dirty="0">
                <a:solidFill>
                  <a:srgbClr val="FF0000"/>
                </a:solidFill>
                <a:ea typeface="宋体"/>
              </a:rPr>
              <a:t>对象，只是构造数组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for(int i = 0; i &lt; 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circleArray.length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; i++) {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circleArray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[i] = 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new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Circle( );    //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这时才构造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对象，可使用有参构造函数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}</a:t>
            </a:r>
          </a:p>
        </p:txBody>
      </p:sp>
      <p:grpSp>
        <p:nvGrpSpPr>
          <p:cNvPr id="21" name="组合 2"/>
          <p:cNvGrpSpPr>
            <a:grpSpLocks/>
          </p:cNvGrpSpPr>
          <p:nvPr/>
        </p:nvGrpSpPr>
        <p:grpSpPr bwMode="auto">
          <a:xfrm>
            <a:off x="3221038" y="4284663"/>
            <a:ext cx="1620837" cy="1349375"/>
            <a:chOff x="3221038" y="4284663"/>
            <a:chExt cx="1620837" cy="1349375"/>
          </a:xfrm>
        </p:grpSpPr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3221038" y="4284663"/>
              <a:ext cx="16208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circleArray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[0]</a:t>
              </a: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3221038" y="4554538"/>
              <a:ext cx="16208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circleArray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[1]</a:t>
              </a: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3221038" y="4824413"/>
              <a:ext cx="1620837" cy="53975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…</a:t>
              </a: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3221038" y="5364163"/>
              <a:ext cx="16208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circleArray[9]</a:t>
              </a:r>
            </a:p>
          </p:txBody>
        </p:sp>
      </p:grpSp>
      <p:grpSp>
        <p:nvGrpSpPr>
          <p:cNvPr id="26" name="组合 1"/>
          <p:cNvGrpSpPr>
            <a:grpSpLocks/>
          </p:cNvGrpSpPr>
          <p:nvPr/>
        </p:nvGrpSpPr>
        <p:grpSpPr bwMode="auto">
          <a:xfrm>
            <a:off x="1309688" y="4298950"/>
            <a:ext cx="1301750" cy="571500"/>
            <a:chOff x="1309688" y="4298950"/>
            <a:chExt cx="1301750" cy="571500"/>
          </a:xfrm>
        </p:grpSpPr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1331913" y="4600575"/>
              <a:ext cx="1214437" cy="269875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rPr>
                <a:t>数组的引用</a:t>
              </a: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1309688" y="4298950"/>
              <a:ext cx="1301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circleArray</a:t>
              </a:r>
            </a:p>
          </p:txBody>
        </p:sp>
      </p:grpSp>
      <p:cxnSp>
        <p:nvCxnSpPr>
          <p:cNvPr id="29" name="AutoShape 11"/>
          <p:cNvCxnSpPr>
            <a:cxnSpLocks noChangeShapeType="1"/>
            <a:stCxn id="27" idx="3"/>
            <a:endCxn id="22" idx="1"/>
          </p:cNvCxnSpPr>
          <p:nvPr/>
        </p:nvCxnSpPr>
        <p:spPr bwMode="auto">
          <a:xfrm flipV="1">
            <a:off x="2546350" y="4419600"/>
            <a:ext cx="674688" cy="3159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12"/>
          <p:cNvSpPr>
            <a:spLocks noChangeArrowheads="1"/>
          </p:cNvSpPr>
          <p:nvPr/>
        </p:nvSpPr>
        <p:spPr bwMode="auto">
          <a:xfrm>
            <a:off x="5607050" y="4284663"/>
            <a:ext cx="1214438" cy="269875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rgbClr val="0000CC"/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Circle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0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5607050" y="4689475"/>
            <a:ext cx="1214438" cy="269875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rgbClr val="0000CC"/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Circle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1</a:t>
            </a: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>
            <a:off x="5607050" y="5634038"/>
            <a:ext cx="1214438" cy="269875"/>
          </a:xfrm>
          <a:prstGeom prst="rect">
            <a:avLst/>
          </a:prstGeom>
          <a:solidFill>
            <a:srgbClr val="99FF99"/>
          </a:solidFill>
          <a:ln w="9525" cap="flat" cmpd="sng" algn="ctr">
            <a:solidFill>
              <a:srgbClr val="0000CC"/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Circle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9</a:t>
            </a: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6073775" y="498316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…</a:t>
            </a:r>
          </a:p>
        </p:txBody>
      </p:sp>
      <p:cxnSp>
        <p:nvCxnSpPr>
          <p:cNvPr id="34" name="AutoShape 16"/>
          <p:cNvCxnSpPr>
            <a:cxnSpLocks noChangeShapeType="1"/>
            <a:stCxn id="22" idx="3"/>
            <a:endCxn id="30" idx="1"/>
          </p:cNvCxnSpPr>
          <p:nvPr/>
        </p:nvCxnSpPr>
        <p:spPr bwMode="auto">
          <a:xfrm>
            <a:off x="4841875" y="4419600"/>
            <a:ext cx="76517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17"/>
          <p:cNvCxnSpPr>
            <a:cxnSpLocks noChangeShapeType="1"/>
            <a:stCxn id="23" idx="3"/>
            <a:endCxn id="31" idx="1"/>
          </p:cNvCxnSpPr>
          <p:nvPr/>
        </p:nvCxnSpPr>
        <p:spPr bwMode="auto">
          <a:xfrm>
            <a:off x="4841875" y="4689475"/>
            <a:ext cx="765175" cy="1349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AutoShape 18"/>
          <p:cNvCxnSpPr>
            <a:cxnSpLocks noChangeShapeType="1"/>
            <a:stCxn id="25" idx="3"/>
            <a:endCxn id="32" idx="1"/>
          </p:cNvCxnSpPr>
          <p:nvPr/>
        </p:nvCxnSpPr>
        <p:spPr bwMode="auto">
          <a:xfrm>
            <a:off x="4841875" y="5499100"/>
            <a:ext cx="765175" cy="2698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8946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构造函数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(constructor)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8"/>
            <a:ext cx="10919019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无返回类型，名字同类名，用于初始化对象。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注意</a:t>
            </a:r>
            <a:r>
              <a:rPr lang="en-US" altLang="zh-CN" kern="0" dirty="0">
                <a:solidFill>
                  <a:srgbClr val="000000"/>
                </a:solidFill>
                <a:ea typeface="宋体"/>
              </a:rPr>
              <a:t>JAVA</a:t>
            </a: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如果定义</a:t>
            </a:r>
            <a:r>
              <a:rPr lang="en-US" altLang="zh-CN" kern="0" dirty="0">
                <a:solidFill>
                  <a:srgbClr val="000000"/>
                </a:solidFill>
                <a:ea typeface="宋体"/>
              </a:rPr>
              <a:t>void </a:t>
            </a:r>
            <a:r>
              <a:rPr lang="en-US" altLang="zh-CN" kern="0" dirty="0" err="1">
                <a:solidFill>
                  <a:srgbClr val="000000"/>
                </a:solidFill>
                <a:ea typeface="宋体"/>
              </a:rPr>
              <a:t>className</a:t>
            </a:r>
            <a:r>
              <a:rPr lang="en-US" altLang="zh-CN" kern="0" dirty="0">
                <a:solidFill>
                  <a:srgbClr val="000000"/>
                </a:solidFill>
                <a:ea typeface="宋体"/>
              </a:rPr>
              <a:t>(…),</a:t>
            </a: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被认为是普通方法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0" eaLnBrk="1" hangingPunct="1">
              <a:buClr>
                <a:srgbClr val="CC0000"/>
              </a:buClr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只在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new</a:t>
            </a:r>
            <a:r>
              <a:rPr lang="zh-CN" altLang="en-US" kern="0" dirty="0">
                <a:solidFill>
                  <a:srgbClr val="000000"/>
                </a:solidFill>
              </a:rPr>
              <a:t>时被自动执行。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必须是实例方法（</a:t>
            </a:r>
            <a:r>
              <a:rPr lang="zh-CN" altLang="en-US" u="sng" kern="0" noProof="0" dirty="0">
                <a:solidFill>
                  <a:srgbClr val="000000"/>
                </a:solidFill>
                <a:ea typeface="宋体"/>
              </a:rPr>
              <a:t>无</a:t>
            </a:r>
            <a:r>
              <a:rPr lang="en-US" altLang="zh-CN" u="sng" kern="0" noProof="0" dirty="0">
                <a:solidFill>
                  <a:srgbClr val="000000"/>
                </a:solidFill>
                <a:ea typeface="宋体"/>
              </a:rPr>
              <a:t>static</a:t>
            </a: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），可为公有、保护、私有和包级权限。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类的变量为引用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相当于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指针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，指向实例化好的对象。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71487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Circle c2=new Circle(5.0);//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调用时必须有括弧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,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可带参初始化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缺省构造函数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C++)</a:t>
            </a: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如果类未定义任何构造函数，编译器会自动提供一个不带参数的默认构造函数。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如果已自定义构造函数，则不会提供默认构造函数。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没有析构函数，但垃圾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自动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回收之前会自动调用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finalize( ),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可以覆盖定义该函数（但是</a:t>
            </a:r>
            <a:r>
              <a:rPr lang="en-US" altLang="zh-CN" sz="2500" kern="0" dirty="0">
                <a:solidFill>
                  <a:srgbClr val="000000"/>
                </a:solidFill>
                <a:ea typeface="宋体"/>
              </a:rPr>
              <a:t>finalize</a:t>
            </a:r>
            <a:r>
              <a:rPr lang="zh-CN" altLang="en-US" sz="2500" kern="0" dirty="0">
                <a:solidFill>
                  <a:srgbClr val="000000"/>
                </a:solidFill>
                <a:ea typeface="宋体"/>
              </a:rPr>
              <a:t>调用时机程序员无法控制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）。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58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9.3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构造函数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(constructor)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96E1A2-E2C9-4128-8F42-1B562EA7F32F}"/>
              </a:ext>
            </a:extLst>
          </p:cNvPr>
          <p:cNvSpPr/>
          <p:nvPr/>
        </p:nvSpPr>
        <p:spPr>
          <a:xfrm>
            <a:off x="148229" y="1326842"/>
            <a:ext cx="1133004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构造函数前面不能有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  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System.out.println("constructor");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如果和类名同名函数前面加了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void(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可返回任何类型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编译器看成是普通函数，这和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不一样 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System.out.println("normal instance method return void");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(double d)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System.out.println("normal method return double");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d;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... args){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先调用构造，再调用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new 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ConstructorTest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3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9511" y="1089819"/>
            <a:ext cx="10684843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访问对象：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通过对象引用访问。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JVM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维护每个对象的引用计数器，只要引用计数器为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0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，该对象会由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JVM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自动回收。通过对象引用，可以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访问对象的实例变量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非静态数据字段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c2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</a:rPr>
              <a:t>.radius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</a:rPr>
              <a:t>。</a:t>
            </a: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调用对象的实例方法：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c2.findArea( 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。通过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c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调用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实例方法时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c2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引用会传给实例方法里的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也可访问静态成员和静态方法（不推荐。推荐用类名）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/>
              </a:rPr>
              <a:t>实例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方法中有个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引用，代表当前对象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引用当前对象：相当于指针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)</a:t>
            </a:r>
            <a:r>
              <a:rPr lang="zh-CN" altLang="en-US" sz="2400" kern="0" noProof="0" dirty="0">
                <a:solidFill>
                  <a:srgbClr val="000000"/>
                </a:solidFill>
                <a:ea typeface="宋体"/>
              </a:rPr>
              <a:t>，因此在实例方法里，可以用</a:t>
            </a:r>
            <a:r>
              <a:rPr lang="en-US" altLang="zh-CN" sz="2400" kern="0" noProof="0" dirty="0">
                <a:solidFill>
                  <a:srgbClr val="000000"/>
                </a:solidFill>
                <a:ea typeface="宋体"/>
              </a:rPr>
              <a:t>this</a:t>
            </a:r>
            <a:r>
              <a:rPr lang="zh-CN" altLang="en-US" sz="2400" kern="0" noProof="0" dirty="0">
                <a:solidFill>
                  <a:srgbClr val="000000"/>
                </a:solidFill>
                <a:ea typeface="宋体"/>
              </a:rPr>
              <a:t>引用访问当前对象成员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this.radius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this.findArea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 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；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在构造函数中调用构造函数，须防止递归调用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不能对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this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进行赋值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匿名对象也可访问实例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或静态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成员：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 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/>
              </a:rPr>
              <a:t>new Circle( ).radius=2;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58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E90A0A-5FA0-4695-9D4C-7227F0A38EA6}"/>
              </a:ext>
            </a:extLst>
          </p:cNvPr>
          <p:cNvSpPr/>
          <p:nvPr/>
        </p:nvSpPr>
        <p:spPr>
          <a:xfrm>
            <a:off x="0" y="1332440"/>
            <a:ext cx="567968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Circle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radius = 1.0;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Circle()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radius = 1.0;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Circle(double r)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r;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double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findArea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radius * radius *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8F365E-9C89-40AF-9F0F-5DE29F6653D5}"/>
              </a:ext>
            </a:extLst>
          </p:cNvPr>
          <p:cNvSpPr/>
          <p:nvPr/>
        </p:nvSpPr>
        <p:spPr>
          <a:xfrm>
            <a:off x="5444360" y="1201577"/>
            <a:ext cx="68681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TestSimpleCircle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 c1 = new Circle();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System.out.println("Area = " +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c1.findArea()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", radius = " +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c1.radius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Circle c2 = new Circle(10.0);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System.out.println("Area = " + c2.findArea() +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", radius = " + c2.radius);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//modify radius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c2.setRadius(20.0);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System.out.println("Area = " + c2.findArea() +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", radius = " + c2.radius);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588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66738" y="1341438"/>
            <a:ext cx="8001000" cy="46783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编写程序，定义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Circle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类，创建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Circle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对象。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创建一个半径为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的圆。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创建一个半径为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的圆。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创建一个半径为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125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的圆。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显示三个圆的半径和面积。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将第二个圆的半径改为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，显示其半径和面积。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39750" y="6230938"/>
            <a:ext cx="799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1800" dirty="0">
                <a:latin typeface="Verdana" pitchFamily="34" charset="0"/>
              </a:rPr>
              <a:t>程序清单</a:t>
            </a:r>
            <a:r>
              <a:rPr lang="en-US" altLang="zh-CN" sz="1800" dirty="0">
                <a:latin typeface="Verdana" pitchFamily="34" charset="0"/>
              </a:rPr>
              <a:t>9-1 TestSimpleCircle.java</a:t>
            </a:r>
          </a:p>
        </p:txBody>
      </p:sp>
    </p:spTree>
    <p:extLst>
      <p:ext uri="{BB962C8B-B14F-4D97-AF65-F5344CB8AC3E}">
        <p14:creationId xmlns:p14="http://schemas.microsoft.com/office/powerpoint/2010/main" val="1885208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268413"/>
            <a:ext cx="1101938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与基本数据类型变量不同：引用变量表示数据的内存单元地址或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存储位置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基本类型变量存储的是基本类型的值。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数组和类是引用类型变量。它引用了内存里的数组或对象。每个对象（数组）有</a:t>
            </a:r>
            <a:r>
              <a:rPr lang="zh-CN" altLang="en-US" kern="0" dirty="0">
                <a:solidFill>
                  <a:srgbClr val="000000"/>
                </a:solidFill>
                <a:ea typeface="宋体"/>
              </a:rPr>
              <a:t>引用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计数。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引用类型变量存储的是对象的引用。当变量未引用任何对象或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未实例化时，它是值为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null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1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一个对象的引用计数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=0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时被自动回收。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2374429" y="3772932"/>
            <a:ext cx="1485900" cy="906463"/>
            <a:chOff x="1181100" y="3249613"/>
            <a:chExt cx="1485900" cy="906462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557338" y="3881437"/>
              <a:ext cx="1079500" cy="252413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466850" y="3249613"/>
              <a:ext cx="120015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基本类型 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= 1;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1181100" y="3819525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</a:p>
          </p:txBody>
        </p:sp>
      </p:grpSp>
      <p:grpSp>
        <p:nvGrpSpPr>
          <p:cNvPr id="9" name="组合 7"/>
          <p:cNvGrpSpPr>
            <a:grpSpLocks/>
          </p:cNvGrpSpPr>
          <p:nvPr/>
        </p:nvGrpSpPr>
        <p:grpSpPr bwMode="auto">
          <a:xfrm>
            <a:off x="4715456" y="3399870"/>
            <a:ext cx="5626100" cy="2255838"/>
            <a:chOff x="3356865" y="3334143"/>
            <a:chExt cx="5625885" cy="2254905"/>
          </a:xfrm>
        </p:grpSpPr>
        <p:grpSp>
          <p:nvGrpSpPr>
            <p:cNvPr id="10" name="组合 3"/>
            <p:cNvGrpSpPr>
              <a:grpSpLocks/>
            </p:cNvGrpSpPr>
            <p:nvPr/>
          </p:nvGrpSpPr>
          <p:grpSpPr bwMode="auto">
            <a:xfrm>
              <a:off x="3356865" y="3334143"/>
              <a:ext cx="3666649" cy="1909635"/>
              <a:chOff x="4286095" y="3259138"/>
              <a:chExt cx="3666648" cy="1909267"/>
            </a:xfrm>
          </p:grpSpPr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>
                <a:off x="4678192" y="3852503"/>
                <a:ext cx="1079458" cy="252260"/>
              </a:xfrm>
              <a:prstGeom prst="rect">
                <a:avLst/>
              </a:prstGeom>
              <a:gradFill rotWithShape="1">
                <a:gsLst>
                  <a:gs pos="0">
                    <a:srgbClr val="000000">
                      <a:tint val="50000"/>
                      <a:satMod val="300000"/>
                    </a:srgbClr>
                  </a:gs>
                  <a:gs pos="35000">
                    <a:srgbClr val="000000">
                      <a:tint val="37000"/>
                      <a:satMod val="300000"/>
                    </a:srgbClr>
                  </a:gs>
                  <a:gs pos="100000">
                    <a:srgbClr val="000000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/>
                    <a:cs typeface="+mn-cs"/>
                  </a:rPr>
                  <a:t>null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宋体"/>
                  <a:cs typeface="+mn-cs"/>
                </a:endParaRPr>
              </a:p>
            </p:txBody>
          </p:sp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4618008" y="3259138"/>
                <a:ext cx="3057129" cy="584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引用类型 </a:t>
                </a:r>
              </a:p>
              <a:p>
                <a:pPr marL="0" marR="0" lvl="0" indent="0" algn="l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Circle c;  //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未实例化</a:t>
                </a: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c=null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 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4303713" y="3789362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</a:t>
                </a:r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4676605" y="4537887"/>
                <a:ext cx="1079458" cy="252260"/>
              </a:xfrm>
              <a:prstGeom prst="rect">
                <a:avLst/>
              </a:prstGeom>
              <a:gradFill rotWithShape="1">
                <a:gsLst>
                  <a:gs pos="0">
                    <a:srgbClr val="000000">
                      <a:tint val="50000"/>
                      <a:satMod val="300000"/>
                    </a:srgbClr>
                  </a:gs>
                  <a:gs pos="35000">
                    <a:srgbClr val="000000">
                      <a:tint val="37000"/>
                      <a:satMod val="300000"/>
                    </a:srgbClr>
                  </a:gs>
                  <a:gs pos="100000">
                    <a:srgbClr val="000000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/>
                    <a:cs typeface="+mn-cs"/>
                  </a:rPr>
                  <a:t>对象的引用</a:t>
                </a:r>
              </a:p>
            </p:txBody>
          </p:sp>
          <p:sp>
            <p:nvSpPr>
              <p:cNvPr id="16" name="Text Box 7"/>
              <p:cNvSpPr txBox="1">
                <a:spLocks noChangeArrowheads="1"/>
              </p:cNvSpPr>
              <p:nvPr/>
            </p:nvSpPr>
            <p:spPr bwMode="auto">
              <a:xfrm>
                <a:off x="4587720" y="4185392"/>
                <a:ext cx="3365023" cy="338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Circle c=new Circle(); //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实例化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pic>
            <p:nvPicPr>
              <p:cNvPr id="17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82034" y="4523880"/>
                <a:ext cx="1162050" cy="644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" name="AutoShape 10"/>
              <p:cNvCxnSpPr>
                <a:cxnSpLocks noChangeShapeType="1"/>
                <a:stCxn id="15" idx="3"/>
              </p:cNvCxnSpPr>
              <p:nvPr/>
            </p:nvCxnSpPr>
            <p:spPr bwMode="auto">
              <a:xfrm>
                <a:off x="5756120" y="4664472"/>
                <a:ext cx="514112" cy="12618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9" name="Text Box 12"/>
              <p:cNvSpPr txBox="1">
                <a:spLocks noChangeArrowheads="1"/>
              </p:cNvSpPr>
              <p:nvPr/>
            </p:nvSpPr>
            <p:spPr bwMode="auto">
              <a:xfrm>
                <a:off x="4286095" y="4433889"/>
                <a:ext cx="2857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itchFamily="2" charset="-122"/>
                    <a:ea typeface="宋体" pitchFamily="2" charset="-122"/>
                  </a:rPr>
                  <a:t>c</a:t>
                </a:r>
              </a:p>
            </p:txBody>
          </p:sp>
        </p:grpSp>
        <p:sp>
          <p:nvSpPr>
            <p:cNvPr id="11" name="TextBox 5"/>
            <p:cNvSpPr txBox="1">
              <a:spLocks noChangeArrowheads="1"/>
            </p:cNvSpPr>
            <p:nvPr/>
          </p:nvSpPr>
          <p:spPr bwMode="auto">
            <a:xfrm>
              <a:off x="3374482" y="5004465"/>
              <a:ext cx="5608268" cy="584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Circle d=c;  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d              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引用计数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=2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，变量生命结束时计数减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3691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7"/>
            <a:ext cx="11075135" cy="519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对象作为方法参数时与传递数组一样，传递对象实际是传递</a:t>
            </a:r>
            <a:r>
              <a:rPr kumimoji="0" lang="zh-CN" alt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对象的引用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基本数据类型传递的是实际值的拷贝，传值后形参和实参不再相关：修改形参的值，不影响实参。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引用类型变量传递的是对象的引用，通过形参修改对象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object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，将改变实参引用的对象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object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71487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71487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Java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无类似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C++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的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&amp;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或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C#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的</a:t>
            </a: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ref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来修饰方法参数，只能靠形参的声明类型来区分是传值还是传引用，因此一定要注意区分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</a:p>
          <a:p>
            <a:pPr marL="471487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069028" y="3304378"/>
            <a:ext cx="2232025" cy="1957387"/>
            <a:chOff x="612" y="2069"/>
            <a:chExt cx="1406" cy="1233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612" y="2069"/>
              <a:ext cx="726" cy="27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A3B2C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实参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: 1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292" y="2659"/>
              <a:ext cx="726" cy="272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A3B2C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形参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: 1</a:t>
              </a:r>
            </a:p>
          </p:txBody>
        </p:sp>
        <p:cxnSp>
          <p:nvCxnSpPr>
            <p:cNvPr id="8" name="AutoShape 7"/>
            <p:cNvCxnSpPr>
              <a:cxnSpLocks noChangeShapeType="1"/>
              <a:stCxn id="6" idx="3"/>
              <a:endCxn id="7" idx="0"/>
            </p:cNvCxnSpPr>
            <p:nvPr/>
          </p:nvCxnSpPr>
          <p:spPr bwMode="auto">
            <a:xfrm>
              <a:off x="1338" y="2205"/>
              <a:ext cx="317" cy="454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156" y="2337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copy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156" y="3071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基本类型</a:t>
              </a:r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5439378" y="3304378"/>
            <a:ext cx="3887788" cy="1951037"/>
            <a:chOff x="2744" y="2069"/>
            <a:chExt cx="2449" cy="1229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744" y="2069"/>
              <a:ext cx="726" cy="272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A3B2C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实参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: ref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424" y="2659"/>
              <a:ext cx="726" cy="272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A3B2C1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形参 </a:t>
              </a: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: ref</a:t>
              </a:r>
            </a:p>
          </p:txBody>
        </p:sp>
        <p:cxnSp>
          <p:nvCxnSpPr>
            <p:cNvPr id="14" name="AutoShape 13"/>
            <p:cNvCxnSpPr>
              <a:cxnSpLocks noChangeShapeType="1"/>
              <a:stCxn id="12" idx="3"/>
              <a:endCxn id="13" idx="0"/>
            </p:cNvCxnSpPr>
            <p:nvPr/>
          </p:nvCxnSpPr>
          <p:spPr bwMode="auto">
            <a:xfrm>
              <a:off x="3470" y="2205"/>
              <a:ext cx="317" cy="454"/>
            </a:xfrm>
            <a:prstGeom prst="curvedConnector2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3288" y="2337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copy</a:t>
              </a: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4558" y="2115"/>
              <a:ext cx="635" cy="408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A3B2C1"/>
              </a:solidFill>
              <a:round/>
              <a:headEnd/>
              <a:tailEnd/>
            </a:ln>
            <a:effectLst>
              <a:outerShdw dist="35921" dir="2700000" algn="ctr" rotWithShape="0">
                <a:srgbClr val="DDDDDD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object</a:t>
              </a:r>
            </a:p>
          </p:txBody>
        </p:sp>
        <p:cxnSp>
          <p:nvCxnSpPr>
            <p:cNvPr id="17" name="AutoShape 16"/>
            <p:cNvCxnSpPr>
              <a:cxnSpLocks noChangeShapeType="1"/>
              <a:stCxn id="12" idx="3"/>
              <a:endCxn id="16" idx="2"/>
            </p:cNvCxnSpPr>
            <p:nvPr/>
          </p:nvCxnSpPr>
          <p:spPr bwMode="auto">
            <a:xfrm>
              <a:off x="3470" y="2205"/>
              <a:ext cx="1088" cy="114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7"/>
            <p:cNvCxnSpPr>
              <a:cxnSpLocks noChangeShapeType="1"/>
              <a:stCxn id="13" idx="3"/>
              <a:endCxn id="16" idx="2"/>
            </p:cNvCxnSpPr>
            <p:nvPr/>
          </p:nvCxnSpPr>
          <p:spPr bwMode="auto">
            <a:xfrm flipV="1">
              <a:off x="4150" y="2319"/>
              <a:ext cx="408" cy="476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288" y="3067"/>
              <a:ext cx="6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34" charset="0"/>
                  <a:ea typeface="宋体" pitchFamily="2" charset="-122"/>
                </a:rPr>
                <a:t>引用类型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1150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5586" y="1955068"/>
            <a:ext cx="10572318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buClr>
                <a:srgbClr val="CC0000"/>
              </a:buClr>
              <a:defRPr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包是</a:t>
            </a:r>
            <a:r>
              <a:rPr lang="zh-CN" altLang="en-US" sz="24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相关的</a:t>
            </a:r>
            <a:r>
              <a:rPr lang="zh-CN" altLang="en-US" sz="24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类和接口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FF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。将类和接口分装在不同的包中，可以避免重名类的冲突，更有效地管理众多的类和接口。因此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namespace</a:t>
            </a:r>
          </a:p>
          <a:p>
            <a:pPr eaLnBrk="1" hangingPunct="1"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包的定义通过关键字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来实现的 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语句的一般形式：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Clr>
                <a:srgbClr val="CC0000"/>
              </a:buClr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package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包名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语句必须出现在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文件第一行，前面不能有注释行也不能有空白行，该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文件里定义的所有内容（类、接口、枚举）都属于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所定义的包里。如果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文件第一行没有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语句，则该文件定义的所有内容位于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包（缺省名字空间），但不推荐。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文件里的内容都可以属于同一个包，只要它们第一条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语句的包名相同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011144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C34B68-9CD1-4607-8E6F-0E4AD7AB741E}"/>
              </a:ext>
            </a:extLst>
          </p:cNvPr>
          <p:cNvSpPr/>
          <p:nvPr/>
        </p:nvSpPr>
        <p:spPr>
          <a:xfrm>
            <a:off x="834137" y="2317016"/>
            <a:ext cx="10523726" cy="44381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171D9A6-2273-4ACD-AD90-128C007C148F}"/>
              </a:ext>
            </a:extLst>
          </p:cNvPr>
          <p:cNvGrpSpPr/>
          <p:nvPr/>
        </p:nvGrpSpPr>
        <p:grpSpPr>
          <a:xfrm>
            <a:off x="1382751" y="2821255"/>
            <a:ext cx="3969834" cy="3724508"/>
            <a:chOff x="1382751" y="2653990"/>
            <a:chExt cx="3969834" cy="3724508"/>
          </a:xfrm>
        </p:grpSpPr>
        <p:sp>
          <p:nvSpPr>
            <p:cNvPr id="5" name="流程图: 过程 4">
              <a:extLst>
                <a:ext uri="{FF2B5EF4-FFF2-40B4-BE49-F238E27FC236}">
                  <a16:creationId xmlns:a16="http://schemas.microsoft.com/office/drawing/2014/main" id="{EDD4E6F2-5F61-4E1E-BEB8-93E2845DAEE9}"/>
                </a:ext>
              </a:extLst>
            </p:cNvPr>
            <p:cNvSpPr/>
            <p:nvPr/>
          </p:nvSpPr>
          <p:spPr>
            <a:xfrm>
              <a:off x="1382751" y="2653990"/>
              <a:ext cx="3969834" cy="372450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8FFAF3F-8B60-493B-ADC5-EC99571CFF9A}"/>
                </a:ext>
              </a:extLst>
            </p:cNvPr>
            <p:cNvSpPr txBox="1"/>
            <p:nvPr/>
          </p:nvSpPr>
          <p:spPr>
            <a:xfrm>
              <a:off x="1382751" y="2653990"/>
              <a:ext cx="1299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A.java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文件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9C1796-311C-4970-B5A2-B23AE457AF13}"/>
                </a:ext>
              </a:extLst>
            </p:cNvPr>
            <p:cNvSpPr txBox="1"/>
            <p:nvPr/>
          </p:nvSpPr>
          <p:spPr>
            <a:xfrm>
              <a:off x="1485900" y="3083734"/>
              <a:ext cx="3777476" cy="309404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package hust.cs.java.ch9;</a:t>
              </a: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A{</a:t>
              </a: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其它定义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…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E031FE0-3DA6-4871-836F-99E6DC614A72}"/>
              </a:ext>
            </a:extLst>
          </p:cNvPr>
          <p:cNvGrpSpPr/>
          <p:nvPr/>
        </p:nvGrpSpPr>
        <p:grpSpPr>
          <a:xfrm>
            <a:off x="5917574" y="2817541"/>
            <a:ext cx="3969834" cy="3724508"/>
            <a:chOff x="1382751" y="2653990"/>
            <a:chExt cx="3969834" cy="3724508"/>
          </a:xfrm>
        </p:grpSpPr>
        <p:sp>
          <p:nvSpPr>
            <p:cNvPr id="15" name="流程图: 过程 14">
              <a:extLst>
                <a:ext uri="{FF2B5EF4-FFF2-40B4-BE49-F238E27FC236}">
                  <a16:creationId xmlns:a16="http://schemas.microsoft.com/office/drawing/2014/main" id="{9F688D64-EBEC-4B8B-803A-268DB290C58E}"/>
                </a:ext>
              </a:extLst>
            </p:cNvPr>
            <p:cNvSpPr/>
            <p:nvPr/>
          </p:nvSpPr>
          <p:spPr>
            <a:xfrm>
              <a:off x="1382751" y="2653990"/>
              <a:ext cx="3969834" cy="3724508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D402DD1-4AF3-4D5E-8EE2-DC72CB28DE71}"/>
                </a:ext>
              </a:extLst>
            </p:cNvPr>
            <p:cNvSpPr txBox="1"/>
            <p:nvPr/>
          </p:nvSpPr>
          <p:spPr>
            <a:xfrm>
              <a:off x="1382751" y="2653990"/>
              <a:ext cx="128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B.java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文件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F4922A0-F0B8-4CA9-8DA9-CA939A9BC2A4}"/>
                </a:ext>
              </a:extLst>
            </p:cNvPr>
            <p:cNvSpPr txBox="1"/>
            <p:nvPr/>
          </p:nvSpPr>
          <p:spPr>
            <a:xfrm>
              <a:off x="1485900" y="3083734"/>
              <a:ext cx="3777476" cy="309404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package hust.cs.java.ch9;</a:t>
              </a: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public class B{</a:t>
              </a: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altLang="zh-CN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n-US" altLang="zh-CN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其它定义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…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5BFEC02A-A538-4A79-A9B4-B5184AAFC6A5}"/>
              </a:ext>
            </a:extLst>
          </p:cNvPr>
          <p:cNvSpPr/>
          <p:nvPr/>
        </p:nvSpPr>
        <p:spPr>
          <a:xfrm>
            <a:off x="3735659" y="1298425"/>
            <a:ext cx="7370956" cy="650603"/>
          </a:xfrm>
          <a:prstGeom prst="wedgeRoundRectCallout">
            <a:avLst>
              <a:gd name="adj1" fmla="val -37266"/>
              <a:gd name="adj2" fmla="val 100208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566874-4079-435D-ACF6-05F7E19188C5}"/>
              </a:ext>
            </a:extLst>
          </p:cNvPr>
          <p:cNvSpPr txBox="1"/>
          <p:nvPr/>
        </p:nvSpPr>
        <p:spPr>
          <a:xfrm>
            <a:off x="3735659" y="1307682"/>
            <a:ext cx="7370956" cy="5967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这二个文件里定义的所有内容都属于同一个包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hust.cs.java.ch9.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因此包是逻辑上的结构，可跨越多个物理的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文件。</a:t>
            </a:r>
          </a:p>
        </p:txBody>
      </p:sp>
    </p:spTree>
    <p:extLst>
      <p:ext uri="{BB962C8B-B14F-4D97-AF65-F5344CB8AC3E}">
        <p14:creationId xmlns:p14="http://schemas.microsoft.com/office/powerpoint/2010/main" val="714791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5586" y="1955068"/>
            <a:ext cx="10572318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本质上就是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namespace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在同一个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里不能定义同名的标识符（类名，接口名，枚举名）。例如一个类名和一个接口名不能相同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如果要使用其它包里标识符，有二个办法：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用完全限定名，例如要调用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java.util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	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java.util.Arrays.sort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(list)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语句后面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，先引入要使用其它包里的标识符，再使用：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09637" lvl="2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java.util.Arrays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java.util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.*; </a:t>
            </a:r>
          </a:p>
          <a:p>
            <a:pPr marL="909637" lvl="2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Arrays.sort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(list)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语句可以有多条，分别引入多个包里的名字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CC0000"/>
              </a:buCl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30587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37439" y="1955068"/>
            <a:ext cx="1136466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使用二种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的区别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单类型导入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(single type import)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：导入包里一个具体的标识符，如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09637" lvl="2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import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java.util.Arrays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按需类型导入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(type import on demand)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：并非导入一个包里的所有类，只是按需导入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71487" lvl="1" indent="0" eaLnBrk="1" hangingPunct="1">
              <a:lnSpc>
                <a:spcPct val="120000"/>
              </a:lnSpc>
              <a:buClr>
                <a:srgbClr val="CC0000"/>
              </a:buClr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import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java.util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这二种导入的区别类似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里二种使用名字空间方式的区别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单类型导入：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把导入的标识符引入到当前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文件，因此当前文件里不能定义同名的标识符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，类似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using nm::id;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把名字空间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的名字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引入到当前代码处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按需导入：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不是把包里的标识符都引入到当前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，只是使包里名字都可见，使得我们要使用引入包里的名字时可以不用使用完全限定名，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因此在当前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.java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文件里可以定义与引入包里同名的标识符。但二义性只有当名字被使用时才被检测到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。类似于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using nm;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2635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C39E6A-5AF9-4A52-9386-71B23E47EDE0}"/>
              </a:ext>
            </a:extLst>
          </p:cNvPr>
          <p:cNvSpPr/>
          <p:nvPr/>
        </p:nvSpPr>
        <p:spPr>
          <a:xfrm>
            <a:off x="110128" y="1886043"/>
            <a:ext cx="324128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p1;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70D819-52DE-45B5-8EDE-2203537272D4}"/>
              </a:ext>
            </a:extLst>
          </p:cNvPr>
          <p:cNvSpPr/>
          <p:nvPr/>
        </p:nvSpPr>
        <p:spPr>
          <a:xfrm>
            <a:off x="110128" y="3353279"/>
            <a:ext cx="4559208" cy="25545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p2;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单类型导入，把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引入到当前域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p1.A;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这个时候当前文件里不能定义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下面语句编译报错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ACC02F-2358-4317-9045-F7FAD76CD112}"/>
              </a:ext>
            </a:extLst>
          </p:cNvPr>
          <p:cNvSpPr/>
          <p:nvPr/>
        </p:nvSpPr>
        <p:spPr>
          <a:xfrm>
            <a:off x="4824761" y="1204734"/>
            <a:ext cx="7254085" cy="37856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p2;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p1.*;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按需导入，没有马上把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引入到当前域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因此当前文件里可以定义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a1 = new A(); 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这时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p2.A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System.out.println(a1 instanceof p2.A); //true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当前域已经定义了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，因此要想使用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p1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里的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只能用完全限定名</a:t>
            </a: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 a2 = new p1.A();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55EBCD-A0BD-4A76-9B28-4368068297BF}"/>
              </a:ext>
            </a:extLst>
          </p:cNvPr>
          <p:cNvSpPr txBox="1"/>
          <p:nvPr/>
        </p:nvSpPr>
        <p:spPr>
          <a:xfrm>
            <a:off x="5263376" y="5653266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如果出现了名字冲突，要用完全限定名消除冲突</a:t>
            </a:r>
          </a:p>
        </p:txBody>
      </p:sp>
    </p:spTree>
    <p:extLst>
      <p:ext uri="{BB962C8B-B14F-4D97-AF65-F5344CB8AC3E}">
        <p14:creationId xmlns:p14="http://schemas.microsoft.com/office/powerpoint/2010/main" val="232691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C39E6A-5AF9-4A52-9386-71B23E47EDE0}"/>
              </a:ext>
            </a:extLst>
          </p:cNvPr>
          <p:cNvSpPr/>
          <p:nvPr/>
        </p:nvSpPr>
        <p:spPr>
          <a:xfrm>
            <a:off x="110128" y="1886043"/>
            <a:ext cx="324128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p1;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70D819-52DE-45B5-8EDE-2203537272D4}"/>
              </a:ext>
            </a:extLst>
          </p:cNvPr>
          <p:cNvSpPr/>
          <p:nvPr/>
        </p:nvSpPr>
        <p:spPr>
          <a:xfrm>
            <a:off x="3546089" y="4499104"/>
            <a:ext cx="8532758" cy="23083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p3;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p1.A;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p2.A; 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报错，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p1.A is already defined in a single type import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B {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ACC02F-2358-4317-9045-F7FAD76CD112}"/>
              </a:ext>
            </a:extLst>
          </p:cNvPr>
          <p:cNvSpPr/>
          <p:nvPr/>
        </p:nvSpPr>
        <p:spPr>
          <a:xfrm>
            <a:off x="3546089" y="1204734"/>
            <a:ext cx="8532758" cy="30469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p3;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可以按需导入，没有马上把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p1.A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p2.A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引入到当前域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因此下面二个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不会保错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p1.*;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p2.*;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B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当名字被使用时二义性才被检测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 </a:t>
            </a:r>
            <a:r>
              <a:rPr lang="en-US" alt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报错，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 to A is a ambiguous, p1.A and p2.A match;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p1.A a1;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这时只能用完全限定名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p2.A a2;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45993C-FE2B-4277-828D-935562FA137F}"/>
              </a:ext>
            </a:extLst>
          </p:cNvPr>
          <p:cNvSpPr/>
          <p:nvPr/>
        </p:nvSpPr>
        <p:spPr>
          <a:xfrm>
            <a:off x="110128" y="3320046"/>
            <a:ext cx="324128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7134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37439" y="1955068"/>
            <a:ext cx="11364665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包除了起到名字空间的作用外，还有个很重要的作用：提供了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一级的访问权限控制（在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里，成员访问控制权限除了公有、保护、私有，还多了包一级的访问控制；类的访问控制除了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外，也多了包一级的访问控制）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包的命名习惯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域名作为包名 （但级别顺序相反），这样的好处是避免包名的重复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org.apache.tools.zip</a:t>
            </a: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cn.edu.hust.cs.javacourse.ch1</a:t>
            </a:r>
          </a:p>
          <a:p>
            <a:pPr lvl="1"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如果所有程序员都遵循这种包命名的约定，包名重复的可能性就非常小</a:t>
            </a:r>
            <a:endParaRPr lang="en-US" altLang="zh-CN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注意包名和实际工程目录之间的对应关系，在第一章里已经详细介绍</a:t>
            </a:r>
          </a:p>
          <a:p>
            <a:pPr eaLnBrk="1" hangingPunct="1">
              <a:lnSpc>
                <a:spcPct val="120000"/>
              </a:lnSpc>
              <a:buClr>
                <a:srgbClr val="CC0000"/>
              </a:buClr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buClr>
                <a:srgbClr val="CC0000"/>
              </a:buClr>
              <a:defRPr/>
            </a:pPr>
            <a:endParaRPr kumimoji="0" lang="zh-CN" altLang="en-US" sz="25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C7CE35-8A48-475E-904D-C3A4D2412ABE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33116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9.4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理解对象访问、向方法传递对象引用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19243" y="1854707"/>
            <a:ext cx="11624074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面向对象的封装性要求最好把实例成员变量设为私有的或保护的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同时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为私有、保护的实例成员变量提供公有的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方法。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方法遵循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JavaBean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的命名规范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设成员为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DateType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propertyName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用于获取成员值：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DateType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get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ropertyName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 ); </a:t>
            </a: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用于设置成员值：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void 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set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ropertyName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en-US" altLang="zh-CN" sz="2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DateType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value)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class Circle{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private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double radius=1.0;        </a:t>
            </a:r>
            <a:r>
              <a:rPr lang="en-US" altLang="zh-CN" sz="1800" kern="0" dirty="0">
                <a:solidFill>
                  <a:srgbClr val="000000"/>
                </a:solidFill>
                <a:ea typeface="宋体"/>
              </a:rPr>
              <a:t>//</a:t>
            </a:r>
            <a:r>
              <a:rPr lang="zh-CN" altLang="en-US" sz="1800" kern="0" dirty="0">
                <a:solidFill>
                  <a:srgbClr val="000000"/>
                </a:solidFill>
                <a:ea typeface="宋体"/>
              </a:rPr>
              <a:t>数据成员设为私有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 public Circle( ){ radius=1.0; }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public double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getRadius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( ){ return radius; }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 public void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setRadius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(double r){ radius=r; }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21BC1A-120B-4F30-AA78-1603AAA4CE0A}"/>
              </a:ext>
            </a:extLst>
          </p:cNvPr>
          <p:cNvSpPr txBox="1"/>
          <p:nvPr/>
        </p:nvSpPr>
        <p:spPr>
          <a:xfrm>
            <a:off x="861669" y="1298425"/>
            <a:ext cx="2430966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数据成员的封装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0827EE-5574-4898-8292-53500475E657}"/>
              </a:ext>
            </a:extLst>
          </p:cNvPr>
          <p:cNvSpPr txBox="1"/>
          <p:nvPr/>
        </p:nvSpPr>
        <p:spPr>
          <a:xfrm>
            <a:off x="7605132" y="497344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如果是公有，就无法防止类的使用者写出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o.radius</a:t>
            </a:r>
            <a:r>
              <a:rPr lang="en-US" altLang="zh-CN" dirty="0"/>
              <a:t> = -100.0;</a:t>
            </a:r>
            <a:r>
              <a:rPr lang="zh-CN" altLang="en-US" dirty="0"/>
              <a:t>这样的语句</a:t>
            </a:r>
          </a:p>
        </p:txBody>
      </p:sp>
    </p:spTree>
    <p:extLst>
      <p:ext uri="{BB962C8B-B14F-4D97-AF65-F5344CB8AC3E}">
        <p14:creationId xmlns:p14="http://schemas.microsoft.com/office/powerpoint/2010/main" val="3935603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29" name="矩形 28"/>
          <p:cNvSpPr/>
          <p:nvPr/>
        </p:nvSpPr>
        <p:spPr>
          <a:xfrm>
            <a:off x="237439" y="1240975"/>
            <a:ext cx="10947141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{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double radius;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 </a:t>
            </a:r>
            <a:r>
              <a:rPr lang="zh-CN" alt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私有静态变量，记录当前内存里被实例化的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zh-CN" altLang="en-US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对象个数*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static int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</a:p>
          <a:p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Circle() { radius = 1.0;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 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Circle(double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 { radius =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 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{return radius;}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 { radius =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newRadius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公有静态方法，获取私有静态变量内容*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getNumberOfObjects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{return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/** Return the area of this circle */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findArea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  return radius * radius *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finalize() throws Throwable {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对象被析构时，计数器减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super.finalize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20A4304F-1E80-4BCB-91B2-F22413DFE144}"/>
              </a:ext>
            </a:extLst>
          </p:cNvPr>
          <p:cNvSpPr/>
          <p:nvPr/>
        </p:nvSpPr>
        <p:spPr>
          <a:xfrm>
            <a:off x="7773329" y="1873405"/>
            <a:ext cx="3282905" cy="496887"/>
          </a:xfrm>
          <a:prstGeom prst="wedgeRoundRectCallout">
            <a:avLst>
              <a:gd name="adj1" fmla="val -40069"/>
              <a:gd name="adj2" fmla="val 140667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0B55E9-E28E-4066-9F76-2183B5526043}"/>
              </a:ext>
            </a:extLst>
          </p:cNvPr>
          <p:cNvSpPr txBox="1"/>
          <p:nvPr/>
        </p:nvSpPr>
        <p:spPr>
          <a:xfrm>
            <a:off x="7726476" y="1952706"/>
            <a:ext cx="3329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在每个重载的构造函数里计数器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09B549E9-5E58-453B-ABF0-182B1B86C022}"/>
              </a:ext>
            </a:extLst>
          </p:cNvPr>
          <p:cNvSpPr/>
          <p:nvPr/>
        </p:nvSpPr>
        <p:spPr>
          <a:xfrm>
            <a:off x="7015046" y="5397190"/>
            <a:ext cx="4906936" cy="1326995"/>
          </a:xfrm>
          <a:prstGeom prst="wedgeRoundRectCallout">
            <a:avLst>
              <a:gd name="adj1" fmla="val -64809"/>
              <a:gd name="adj2" fmla="val -39162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9D1314-2B16-40B4-A7B6-F6A7B532F6FD}"/>
              </a:ext>
            </a:extLst>
          </p:cNvPr>
          <p:cNvSpPr txBox="1"/>
          <p:nvPr/>
        </p:nvSpPr>
        <p:spPr>
          <a:xfrm>
            <a:off x="6968193" y="5476491"/>
            <a:ext cx="4906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Object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finalize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方法，该方法在对象被回收时调用，方法里对象计数器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。注意该方法调用时机不可控制。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@Override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是注解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(annotation)</a:t>
            </a:r>
          </a:p>
          <a:p>
            <a:r>
              <a:rPr lang="zh-CN" altLang="en-US" sz="16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告诉编译器这里是覆盖父类的方法。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604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29" name="矩形 28"/>
          <p:cNvSpPr/>
          <p:nvPr/>
        </p:nvSpPr>
        <p:spPr>
          <a:xfrm>
            <a:off x="237439" y="1530906"/>
            <a:ext cx="1094714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{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…  //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其他代码省略</a:t>
            </a:r>
            <a:endParaRPr lang="en-US" altLang="zh-CN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finalize() throws Throwable {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numberOfObjects</a:t>
            </a:r>
            <a:r>
              <a:rPr lang="en-US" altLang="zh-CN" sz="17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//</a:t>
            </a:r>
            <a:r>
              <a:rPr lang="zh-CN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对象被析构时，计数器减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super.finalize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09B549E9-5E58-453B-ABF0-182B1B86C022}"/>
              </a:ext>
            </a:extLst>
          </p:cNvPr>
          <p:cNvSpPr/>
          <p:nvPr/>
        </p:nvSpPr>
        <p:spPr>
          <a:xfrm>
            <a:off x="2376138" y="3862071"/>
            <a:ext cx="8808441" cy="2505275"/>
          </a:xfrm>
          <a:prstGeom prst="wedgeRoundRectCallout">
            <a:avLst>
              <a:gd name="adj1" fmla="val -34299"/>
              <a:gd name="adj2" fmla="val -83673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9D1314-2B16-40B4-A7B6-F6A7B532F6FD}"/>
              </a:ext>
            </a:extLst>
          </p:cNvPr>
          <p:cNvSpPr txBox="1"/>
          <p:nvPr/>
        </p:nvSpPr>
        <p:spPr>
          <a:xfrm>
            <a:off x="2552306" y="3941372"/>
            <a:ext cx="84427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可以不加，但是使用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注解有如下好处：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：可以当注释用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方便阅读；</a:t>
            </a:r>
            <a:b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：编译器可以给你验证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下面的方法名是否是父类中所有的，如果没有则报错。例如，如果没写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，而下面的方法名又写错了，这时你的编译器是可以编译通过的，因为编译器以为这个方法是你的子类中自己增加的方法。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注解为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代码提供元数据。注解可以指示编译器做些额外的动作，甚至可以自定义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注解让编译器执行自定义的动作。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提供了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Annotation API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让我们自定义注解。</a:t>
            </a:r>
          </a:p>
        </p:txBody>
      </p:sp>
    </p:spTree>
    <p:extLst>
      <p:ext uri="{BB962C8B-B14F-4D97-AF65-F5344CB8AC3E}">
        <p14:creationId xmlns:p14="http://schemas.microsoft.com/office/powerpoint/2010/main" val="1101649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8"/>
            <a:ext cx="10004619" cy="503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(instance variable):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未用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修饰的成员变量，属于类的具体实例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，只能通过对象访问，如“对象名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.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变量名” 。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(static variable)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是用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修饰的变量，被类的所有实例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对象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共享，也称</a:t>
            </a: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类变量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。可以通过对象或类名访问，提倡“类名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.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变量名”访问。</a:t>
            </a:r>
          </a:p>
        </p:txBody>
      </p: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269215" y="3894099"/>
            <a:ext cx="4752975" cy="1954213"/>
            <a:chOff x="2692" y="2205"/>
            <a:chExt cx="2994" cy="1231"/>
          </a:xfrm>
        </p:grpSpPr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2728" y="3238"/>
              <a:ext cx="482" cy="198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rPr>
                <a:t>5</a:t>
              </a:r>
            </a:p>
          </p:txBody>
        </p:sp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728" y="2416"/>
              <a:ext cx="482" cy="198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rPr>
                <a:t>1</a:t>
              </a:r>
            </a:p>
          </p:txBody>
        </p:sp>
        <p:sp>
          <p:nvSpPr>
            <p:cNvPr id="8" name="Line 20"/>
            <p:cNvSpPr>
              <a:spLocks noChangeShapeType="1"/>
            </p:cNvSpPr>
            <p:nvPr/>
          </p:nvSpPr>
          <p:spPr bwMode="auto">
            <a:xfrm flipH="1" flipV="1">
              <a:off x="3210" y="2529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4548" y="2937"/>
              <a:ext cx="1138" cy="159"/>
            </a:xfrm>
            <a:prstGeom prst="rect">
              <a:avLst/>
            </a:prstGeom>
            <a:gradFill rotWithShape="1">
              <a:gsLst>
                <a:gs pos="0">
                  <a:srgbClr val="000000">
                    <a:tint val="50000"/>
                    <a:satMod val="300000"/>
                  </a:srgbClr>
                </a:gs>
                <a:gs pos="35000">
                  <a:srgbClr val="000000">
                    <a:tint val="37000"/>
                    <a:satMod val="300000"/>
                  </a:srgbClr>
                </a:gs>
                <a:gs pos="100000">
                  <a:srgbClr val="00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rPr>
                <a:t>numberOfObject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itchFamily="34" charset="0"/>
                  <a:ea typeface="宋体" pitchFamily="2" charset="-122"/>
                  <a:cs typeface="+mn-cs"/>
                </a:rPr>
                <a:t>=2</a:t>
              </a:r>
            </a:p>
          </p:txBody>
        </p:sp>
        <p:sp>
          <p:nvSpPr>
            <p:cNvPr id="10" name="Line 36"/>
            <p:cNvSpPr>
              <a:spLocks noChangeShapeType="1"/>
            </p:cNvSpPr>
            <p:nvPr/>
          </p:nvSpPr>
          <p:spPr bwMode="auto">
            <a:xfrm flipH="1" flipV="1">
              <a:off x="3210" y="3351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 flipV="1">
              <a:off x="4326" y="2642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2" name="Line 38"/>
            <p:cNvSpPr>
              <a:spLocks noChangeShapeType="1"/>
            </p:cNvSpPr>
            <p:nvPr/>
          </p:nvSpPr>
          <p:spPr bwMode="auto">
            <a:xfrm flipV="1">
              <a:off x="4326" y="3436"/>
              <a:ext cx="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3" name="Line 39"/>
            <p:cNvSpPr>
              <a:spLocks noChangeShapeType="1"/>
            </p:cNvSpPr>
            <p:nvPr/>
          </p:nvSpPr>
          <p:spPr bwMode="auto">
            <a:xfrm>
              <a:off x="4411" y="2642"/>
              <a:ext cx="0" cy="7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4" name="Line 40"/>
            <p:cNvSpPr>
              <a:spLocks noChangeShapeType="1"/>
            </p:cNvSpPr>
            <p:nvPr/>
          </p:nvSpPr>
          <p:spPr bwMode="auto">
            <a:xfrm>
              <a:off x="4411" y="3010"/>
              <a:ext cx="1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endParaRPr>
            </a:p>
          </p:txBody>
        </p:sp>
        <p:sp>
          <p:nvSpPr>
            <p:cNvPr id="15" name="Text Box 41"/>
            <p:cNvSpPr txBox="1">
              <a:spLocks noChangeArrowheads="1"/>
            </p:cNvSpPr>
            <p:nvPr/>
          </p:nvSpPr>
          <p:spPr bwMode="auto">
            <a:xfrm>
              <a:off x="2692" y="2205"/>
              <a:ext cx="5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</a:t>
              </a:r>
            </a:p>
          </p:txBody>
        </p:sp>
        <p:sp>
          <p:nvSpPr>
            <p:cNvPr id="16" name="Text Box 42"/>
            <p:cNvSpPr txBox="1">
              <a:spLocks noChangeArrowheads="1"/>
            </p:cNvSpPr>
            <p:nvPr/>
          </p:nvSpPr>
          <p:spPr bwMode="auto">
            <a:xfrm>
              <a:off x="2710" y="2990"/>
              <a:ext cx="5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radius</a:t>
              </a:r>
            </a:p>
          </p:txBody>
        </p:sp>
      </p:grpSp>
      <p:grpSp>
        <p:nvGrpSpPr>
          <p:cNvPr id="17" name="组合 2"/>
          <p:cNvGrpSpPr>
            <a:grpSpLocks/>
          </p:cNvGrpSpPr>
          <p:nvPr/>
        </p:nvGrpSpPr>
        <p:grpSpPr bwMode="auto">
          <a:xfrm>
            <a:off x="1532365" y="3894099"/>
            <a:ext cx="2595563" cy="2268538"/>
            <a:chOff x="952500" y="3905767"/>
            <a:chExt cx="2595612" cy="2268538"/>
          </a:xfrm>
        </p:grpSpPr>
        <p:sp>
          <p:nvSpPr>
            <p:cNvPr id="18" name="Text Box 45"/>
            <p:cNvSpPr txBox="1">
              <a:spLocks noChangeArrowheads="1"/>
            </p:cNvSpPr>
            <p:nvPr/>
          </p:nvSpPr>
          <p:spPr bwMode="auto">
            <a:xfrm>
              <a:off x="952500" y="5348805"/>
              <a:ext cx="1911350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表示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private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+ </a:t>
              </a: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表示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public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下划线 表示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static</a:t>
              </a:r>
            </a:p>
          </p:txBody>
        </p:sp>
        <p:grpSp>
          <p:nvGrpSpPr>
            <p:cNvPr id="19" name="组合 1"/>
            <p:cNvGrpSpPr>
              <a:grpSpLocks/>
            </p:cNvGrpSpPr>
            <p:nvPr/>
          </p:nvGrpSpPr>
          <p:grpSpPr bwMode="auto">
            <a:xfrm>
              <a:off x="971600" y="3905767"/>
              <a:ext cx="2576512" cy="1468438"/>
              <a:chOff x="1004888" y="3896485"/>
              <a:chExt cx="2576512" cy="1468438"/>
            </a:xfrm>
          </p:grpSpPr>
          <p:pic>
            <p:nvPicPr>
              <p:cNvPr id="20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4888" y="3896500"/>
                <a:ext cx="2576512" cy="1468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Line 5"/>
              <p:cNvSpPr>
                <a:spLocks noChangeShapeType="1"/>
              </p:cNvSpPr>
              <p:nvPr/>
            </p:nvSpPr>
            <p:spPr bwMode="auto">
              <a:xfrm>
                <a:off x="1230313" y="4514031"/>
                <a:ext cx="13493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</a:endParaRPr>
              </a:p>
            </p:txBody>
          </p:sp>
          <p:sp>
            <p:nvSpPr>
              <p:cNvPr id="22" name="AutoShape 24"/>
              <p:cNvSpPr>
                <a:spLocks noChangeAspect="1" noChangeArrowheads="1"/>
              </p:cNvSpPr>
              <p:nvPr/>
            </p:nvSpPr>
            <p:spPr bwMode="auto">
              <a:xfrm>
                <a:off x="1004888" y="3896485"/>
                <a:ext cx="2576512" cy="146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25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o"/>
                  <a:defRPr sz="19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accent2"/>
                  </a:buClr>
                  <a:buFont typeface="Wingdings" pitchFamily="2" charset="2"/>
                  <a:buChar char="n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5000"/>
                  </a:spcBef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endParaRPr>
              </a:p>
            </p:txBody>
          </p:sp>
          <p:cxnSp>
            <p:nvCxnSpPr>
              <p:cNvPr id="23" name="直接连接符 25"/>
              <p:cNvCxnSpPr>
                <a:cxnSpLocks noChangeShapeType="1"/>
              </p:cNvCxnSpPr>
              <p:nvPr/>
            </p:nvCxnSpPr>
            <p:spPr bwMode="auto">
              <a:xfrm>
                <a:off x="1241630" y="5094185"/>
                <a:ext cx="1955800" cy="1587"/>
              </a:xfrm>
              <a:prstGeom prst="line">
                <a:avLst/>
              </a:prstGeom>
              <a:noFill/>
              <a:ln w="9525" algn="ctr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7401353" y="3802024"/>
            <a:ext cx="203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二个对象的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radius: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实例变量存储于不同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对象，彼此不影响</a:t>
            </a: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 flipV="1">
            <a:off x="6861603" y="4062374"/>
            <a:ext cx="539750" cy="254000"/>
          </a:xfrm>
          <a:prstGeom prst="line">
            <a:avLst/>
          </a:prstGeom>
          <a:noFill/>
          <a:ln w="9525">
            <a:solidFill>
              <a:srgbClr val="A3B2C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</a:endParaRP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 flipV="1">
            <a:off x="6861603" y="4062374"/>
            <a:ext cx="541337" cy="1558925"/>
          </a:xfrm>
          <a:prstGeom prst="line">
            <a:avLst/>
          </a:prstGeom>
          <a:noFill/>
          <a:ln w="9525">
            <a:solidFill>
              <a:srgbClr val="A3B2C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</a:endParaRPr>
          </a:p>
        </p:txBody>
      </p:sp>
      <p:pic>
        <p:nvPicPr>
          <p:cNvPr id="27" name="Picture 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128" y="3954424"/>
            <a:ext cx="15144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2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128" y="5259349"/>
            <a:ext cx="15144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>
                    <a:alpha val="2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8BC287-6C8F-4EAC-BAED-A3317D8E9577}"/>
              </a:ext>
            </a:extLst>
          </p:cNvPr>
          <p:cNvSpPr txBox="1"/>
          <p:nvPr/>
        </p:nvSpPr>
        <p:spPr>
          <a:xfrm>
            <a:off x="7265026" y="348432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实例变量是作为对象内存的一部分存在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70CE6E-A761-408E-B502-FA2B3603AD4A}"/>
              </a:ext>
            </a:extLst>
          </p:cNvPr>
          <p:cNvSpPr txBox="1"/>
          <p:nvPr/>
        </p:nvSpPr>
        <p:spPr>
          <a:xfrm>
            <a:off x="7276941" y="5476837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静态变量是单独的内存单元，与对象内存</a:t>
            </a:r>
            <a:endParaRPr lang="en-US" altLang="zh-CN" dirty="0"/>
          </a:p>
          <a:p>
            <a:r>
              <a:rPr lang="zh-CN" altLang="en-US" dirty="0"/>
              <a:t>分开</a:t>
            </a:r>
          </a:p>
        </p:txBody>
      </p:sp>
    </p:spTree>
    <p:extLst>
      <p:ext uri="{BB962C8B-B14F-4D97-AF65-F5344CB8AC3E}">
        <p14:creationId xmlns:p14="http://schemas.microsoft.com/office/powerpoint/2010/main" val="2036047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705320" cy="529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实例常量是没有用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静态常量是用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变量。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类中的静态常量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PI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定义为：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public static final double PI = 3.14159265358979323846;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所有常量可按需指定访问权限，不能用等号赋值修改。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由于它们不能被修改，故通常定义为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lang="en-US" altLang="zh-CN" sz="2400" kern="0" dirty="0">
                <a:solidFill>
                  <a:srgbClr val="000000"/>
                </a:solidFill>
                <a:ea typeface="宋体"/>
              </a:rPr>
              <a:t>final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也可以修饰方法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修饰实例方法时，表示该方法不能被子类覆盖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(Override)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 。非</a:t>
            </a: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实例方法可以被子类覆盖（见继承）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lvl="1" indent="-469900" eaLnBrk="1" hangingPunct="1">
              <a:buClr>
                <a:srgbClr val="CC0000"/>
              </a:buClr>
              <a:buFont typeface="Wingdings" pitchFamily="2" charset="2"/>
              <a:buChar char="o"/>
              <a:defRPr/>
            </a:pP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final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修饰静态方法时，表示该方法不能被子类隐藏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(Hiding)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。非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final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静态方法可以被子类隐藏。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构造函数不能为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final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036047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99831" y="1887848"/>
            <a:ext cx="10705320" cy="479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eaLnBrk="1" hangingPunct="1">
              <a:buClr>
                <a:srgbClr val="CC0000"/>
              </a:buClr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方法重载：</a:t>
            </a:r>
            <a:r>
              <a:rPr lang="zh-CN" altLang="en-US" sz="2400" dirty="0"/>
              <a:t>同一个类中、或者父类子类中的多个方法具有相同的名字，但这些方法</a:t>
            </a:r>
            <a:r>
              <a:rPr lang="zh-CN" altLang="en-US" sz="2400" dirty="0">
                <a:solidFill>
                  <a:srgbClr val="FF0000"/>
                </a:solidFill>
              </a:rPr>
              <a:t>具有不同的参数列表</a:t>
            </a:r>
            <a:r>
              <a:rPr lang="en-US" altLang="zh-CN" sz="2400" dirty="0"/>
              <a:t>(</a:t>
            </a:r>
            <a:r>
              <a:rPr lang="zh-CN" altLang="en-US" sz="2400" dirty="0"/>
              <a:t>不含返回类型，即</a:t>
            </a:r>
            <a:r>
              <a:rPr lang="zh-CN" altLang="en-US" dirty="0"/>
              <a:t>无法以返回类型作为方法重载的区分标准）</a:t>
            </a:r>
            <a:endParaRPr lang="en-US" altLang="zh-CN" dirty="0"/>
          </a:p>
          <a:p>
            <a:pPr lvl="0" eaLnBrk="1" hangingPunct="1">
              <a:buClr>
                <a:srgbClr val="CC0000"/>
              </a:buClr>
              <a:defRPr/>
            </a:pPr>
            <a:r>
              <a:rPr lang="zh-CN" altLang="en-US" dirty="0"/>
              <a:t>方法覆盖和方法隐藏：发生在父类和子类之间，前提是继承。子类中定义的方法与父类中的方法具有</a:t>
            </a:r>
            <a:r>
              <a:rPr lang="zh-CN" altLang="en-US" dirty="0">
                <a:solidFill>
                  <a:srgbClr val="FF0000"/>
                </a:solidFill>
              </a:rPr>
              <a:t>相同的方法名字、相同的参数列表、相同的返回类型</a:t>
            </a:r>
            <a:r>
              <a:rPr lang="zh-CN" altLang="en-US" dirty="0"/>
              <a:t>（也允许子类中方法的返回类型是父类中方法返回类型的子类）</a:t>
            </a:r>
            <a:endParaRPr lang="en-US" altLang="zh-CN" dirty="0"/>
          </a:p>
          <a:p>
            <a:pPr lvl="1" eaLnBrk="1" hangingPunct="1">
              <a:buClr>
                <a:srgbClr val="CC0000"/>
              </a:buClr>
              <a:defRPr/>
            </a:pPr>
            <a:r>
              <a:rPr lang="zh-CN" altLang="en-US" dirty="0"/>
              <a:t>方法覆盖：实例方法</a:t>
            </a:r>
            <a:endParaRPr lang="en-US" altLang="zh-CN" dirty="0"/>
          </a:p>
          <a:p>
            <a:pPr lvl="1" eaLnBrk="1" hangingPunct="1">
              <a:buClr>
                <a:srgbClr val="CC0000"/>
              </a:buClr>
              <a:defRPr/>
            </a:pPr>
            <a:r>
              <a:rPr lang="zh-CN" altLang="en-US" dirty="0"/>
              <a:t>方法隐藏：静态方法</a:t>
            </a:r>
            <a:endParaRPr lang="en-US" altLang="zh-CN" dirty="0"/>
          </a:p>
          <a:p>
            <a:pPr lvl="1" eaLnBrk="1" hangingPunct="1">
              <a:buClr>
                <a:srgbClr val="CC0000"/>
              </a:buClr>
              <a:defRPr/>
            </a:pPr>
            <a:endParaRPr lang="en-US" altLang="zh-CN" sz="3200" kern="0" dirty="0">
              <a:solidFill>
                <a:srgbClr val="000000"/>
              </a:solidFill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64CBD5-D154-4B18-B7A3-6F909390AA55}"/>
              </a:ext>
            </a:extLst>
          </p:cNvPr>
          <p:cNvSpPr txBox="1"/>
          <p:nvPr/>
        </p:nvSpPr>
        <p:spPr>
          <a:xfrm>
            <a:off x="499830" y="1246843"/>
            <a:ext cx="9480511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方法重载（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Overload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）、方法覆盖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(Override)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、方法隐藏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(Hiding)</a:t>
            </a:r>
            <a:endParaRPr lang="zh-CN" altLang="en-US" sz="2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2629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64CBD5-D154-4B18-B7A3-6F909390AA55}"/>
              </a:ext>
            </a:extLst>
          </p:cNvPr>
          <p:cNvSpPr txBox="1"/>
          <p:nvPr/>
        </p:nvSpPr>
        <p:spPr>
          <a:xfrm>
            <a:off x="499830" y="1246843"/>
            <a:ext cx="9480511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方法重载（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Overload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）、方法覆盖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(Override)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、方法隐藏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(Hiding)</a:t>
            </a:r>
            <a:endParaRPr lang="zh-CN" altLang="en-US" sz="2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94E125-F82E-4156-816F-5ADAC852B43F}"/>
              </a:ext>
            </a:extLst>
          </p:cNvPr>
          <p:cNvSpPr/>
          <p:nvPr/>
        </p:nvSpPr>
        <p:spPr>
          <a:xfrm>
            <a:off x="367989" y="1823070"/>
            <a:ext cx="11128917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m(int x, int y) {}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m(double x, double y) {}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下面语句报错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已经定义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重载函数不能通过返回类型区分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public int m(int x, int y) { return 0;}; </a:t>
            </a:r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56E35-0229-41D7-BD52-EBC3896AE106}"/>
              </a:ext>
            </a:extLst>
          </p:cNvPr>
          <p:cNvSpPr/>
          <p:nvPr/>
        </p:nvSpPr>
        <p:spPr>
          <a:xfrm>
            <a:off x="367988" y="3832663"/>
            <a:ext cx="11128917" cy="28007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A{ //B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继承了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m(float x, float y) { }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重载了父类的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double,double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m(int x, int y) {}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覆盖了父类的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注意连返回类型都必须一致</a:t>
            </a:r>
          </a:p>
          <a:p>
            <a:endParaRPr lang="zh-CN" alt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注意下面这个语句报错，既不是覆盖（与父类的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返回类型不一样）</a:t>
            </a: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也不是合法的重载（和父类的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参数完全一样，只是返回类型不一致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  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int m(int x, int y) {}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错误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子类定义了新的重载函数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m()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 m(){return 0;};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340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64CBD5-D154-4B18-B7A3-6F909390AA55}"/>
              </a:ext>
            </a:extLst>
          </p:cNvPr>
          <p:cNvSpPr txBox="1"/>
          <p:nvPr/>
        </p:nvSpPr>
        <p:spPr>
          <a:xfrm>
            <a:off x="499830" y="1246843"/>
            <a:ext cx="9480511" cy="4770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方法重载（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Overload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）、方法覆盖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(Override)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、方法隐藏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(Hiding)</a:t>
            </a:r>
            <a:endParaRPr lang="zh-CN" altLang="en-US" sz="2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56E35-0229-41D7-BD52-EBC3896AE106}"/>
              </a:ext>
            </a:extLst>
          </p:cNvPr>
          <p:cNvSpPr/>
          <p:nvPr/>
        </p:nvSpPr>
        <p:spPr>
          <a:xfrm>
            <a:off x="323383" y="1867165"/>
            <a:ext cx="11128917" cy="47705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m1(){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void m2() {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m3() {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static void m4() {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覆盖父类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 m1()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m1(){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下面语句报错，不能覆盖父类的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方法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public void m2(){ 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m3() { }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隐藏了父类的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static void m3()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下面语句报错，父类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final 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静态方法不能被子类隐藏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   public static void m4() { }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FA6746-BFB0-E752-1BDA-721919683F11}"/>
              </a:ext>
            </a:extLst>
          </p:cNvPr>
          <p:cNvSpPr txBox="1"/>
          <p:nvPr/>
        </p:nvSpPr>
        <p:spPr>
          <a:xfrm>
            <a:off x="6158940" y="3799840"/>
            <a:ext cx="5293360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 o = new B();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如果通过对象去访问静态方法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m3,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永远只能调用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类的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m3, 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类的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m3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隐藏了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o.m3();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7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9781594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(static method)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是用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修饰的方法。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构造函数不能用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static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修饰，静态函数无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this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引用。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每个程序必须有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 static void main(String[])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方法。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JOptionPane.showMessageDialog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JOptionPane.showInputDialog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Math.random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静态方法可以通过对象或类名调用。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静态方法内部只能访问类的静态成员 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因为实例成员必须有实例才存在，当通过类名调用静态方法时，可能该类还没有一个实例）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静态方法没有多态性。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4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9.5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实例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(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或静态</a:t>
            </a: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的变量、常量和方法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ECF255-90B6-7013-1257-D783998C90AA}"/>
              </a:ext>
            </a:extLst>
          </p:cNvPr>
          <p:cNvSpPr txBox="1"/>
          <p:nvPr/>
        </p:nvSpPr>
        <p:spPr>
          <a:xfrm>
            <a:off x="861669" y="2821882"/>
            <a:ext cx="10932006" cy="3293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int i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static int j = 0;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f(){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j = 20;  //OK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 = 20 ; //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错误，静态方法不能访问实例变量，调用实例方法</a:t>
            </a:r>
            <a:endParaRPr lang="en-US" altLang="zh-CN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当定义好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类，在没有实例化任何一个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类对象的情况下，都可以通过类名调用静态方法：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如果静态方法访问了类的实例成员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，就会出现问题：没有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的对象，哪里有实例变量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293DCF-6BAE-B73C-37F8-5F868D10C9D0}"/>
              </a:ext>
            </a:extLst>
          </p:cNvPr>
          <p:cNvSpPr txBox="1"/>
          <p:nvPr/>
        </p:nvSpPr>
        <p:spPr>
          <a:xfrm>
            <a:off x="774289" y="1513454"/>
            <a:ext cx="107589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静态方法内部只能访问类的静态成员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因为实例成员必须有实例才存在，当通过类名调用静态方法时，可能该类还没有一个实例）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900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7" y="1341438"/>
            <a:ext cx="10270959" cy="529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类访问控制符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：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和包级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默认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；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类的成员访问控制符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：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private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、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protected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、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public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和包级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默认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</a:p>
          <a:p>
            <a:pPr lvl="0" eaLnBrk="1" hangingPunct="1">
              <a:lnSpc>
                <a:spcPct val="90000"/>
              </a:lnSpc>
              <a:buClr>
                <a:srgbClr val="CC0000"/>
              </a:buClr>
              <a:defRPr/>
            </a:pP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Java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继承时无继承控制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见</a:t>
            </a:r>
            <a:r>
              <a:rPr lang="zh-CN" altLang="en-US" kern="0" dirty="0">
                <a:solidFill>
                  <a:srgbClr val="FF0000"/>
                </a:solidFill>
                <a:ea typeface="宋体"/>
              </a:rPr>
              <a:t>继承，即都是公有继承，和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C++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不同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，故父类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成员继承到派生类时访问权限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保持不变（除了私有）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成员访问控制符的作用：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private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只能被当前类定义的函数访问，即只能在类体里访问。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包级：无修饰符的成员，只能被同一包中的类访问。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protected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：子类、同一包中的类的函数可以访问。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public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所有类的函数都可以访问。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4778"/>
              </p:ext>
            </p:extLst>
          </p:nvPr>
        </p:nvGraphicFramePr>
        <p:xfrm>
          <a:off x="1184546" y="4672648"/>
          <a:ext cx="6931025" cy="1687828"/>
        </p:xfrm>
        <a:graphic>
          <a:graphicData uri="http://schemas.openxmlformats.org/drawingml/2006/table">
            <a:tbl>
              <a:tblPr firstRow="1" bandRow="1"/>
              <a:tblGrid>
                <a:gridCol w="1386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访问权限</a:t>
                      </a: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本类</a:t>
                      </a: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本包</a:t>
                      </a: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子类</a:t>
                      </a: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/>
                        <a:t>它包</a:t>
                      </a: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/>
                        <a:t>public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Agency FB"/>
                        </a:rPr>
                        <a:t>√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/>
                        <a:t>protected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600" dirty="0"/>
                        <a:t>包级</a:t>
                      </a:r>
                      <a:r>
                        <a:rPr lang="en-US" altLang="zh-CN" sz="1600" dirty="0"/>
                        <a:t>(</a:t>
                      </a:r>
                      <a:r>
                        <a:rPr lang="zh-CN" altLang="en-US" sz="1600" dirty="0"/>
                        <a:t>默认</a:t>
                      </a: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/>
                        <a:t>private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Agency FB"/>
                        </a:rPr>
                        <a:t>√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ahoma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>
                          <a:latin typeface="Agency FB"/>
                        </a:rPr>
                        <a:t>X</a:t>
                      </a:r>
                      <a:endParaRPr lang="zh-CN" altLang="en-US" sz="1600" dirty="0"/>
                    </a:p>
                  </a:txBody>
                  <a:tcPr marL="91443" marR="91443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B2C1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911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50825" y="2275710"/>
            <a:ext cx="8686800" cy="42576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p1;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41313" y="2682110"/>
            <a:ext cx="2970212" cy="378618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C1{//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C1.java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int x=1;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int y=2;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protected int u=3,w=4;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int z;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void m1(){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i = x = u;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j = y = w;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int k = z;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m2();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m3(); 	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m2(){ } 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void m3(){ 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446463" y="2680523"/>
            <a:ext cx="5311775" cy="39243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C2 extends C1{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C2.java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int u=5; </a:t>
            </a:r>
            <a:r>
              <a:rPr lang="en-US" altLang="zh-CN" sz="1600" kern="0" dirty="0">
                <a:solidFill>
                  <a:srgbClr val="000000"/>
                </a:solidFill>
              </a:rPr>
              <a:t>//</a:t>
            </a:r>
            <a:r>
              <a:rPr lang="zh-CN" altLang="en-US" sz="1600" kern="0" dirty="0">
                <a:solidFill>
                  <a:srgbClr val="000000"/>
                </a:solidFill>
              </a:rPr>
              <a:t>包级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aMethod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(){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C1 o = new C1( );//ok,C1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;//ok, x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j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y(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，可在同一包内访问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h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保护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可在同一包内访问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=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u+super.u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，本类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及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父类保护）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k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o.z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z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o.m1(); //ok, m1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o.m2(); //ok, m2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无访问修饰，可在同一包内访问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o.m3(); //error, m3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          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985CC9-E464-4438-ABF0-283678A12BD0}"/>
              </a:ext>
            </a:extLst>
          </p:cNvPr>
          <p:cNvSpPr txBox="1"/>
          <p:nvPr/>
        </p:nvSpPr>
        <p:spPr>
          <a:xfrm>
            <a:off x="672662" y="149246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</a:p>
        </p:txBody>
      </p:sp>
    </p:spTree>
    <p:extLst>
      <p:ext uri="{BB962C8B-B14F-4D97-AF65-F5344CB8AC3E}">
        <p14:creationId xmlns:p14="http://schemas.microsoft.com/office/powerpoint/2010/main" val="34605187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0824" y="1469850"/>
            <a:ext cx="8843299" cy="4278094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p2;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31800" y="1808163"/>
            <a:ext cx="8143875" cy="378565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C3 extends C1{ 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C3.java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u=5;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void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aMethod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(){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C1 o =new C1( );//ok,C1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 //ok, x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j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o.y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y(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，不能在不同包内访问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h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保护，当前对象非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子类对象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，不能在不同包内访问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=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u+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，本类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及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super.u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保护，当前对象是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super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的子类对象）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k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o.z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;//error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z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o.m1(); //ok, m1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o.m2(); //error, m2(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包级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，不能在不同包内访问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o.m3(); //error, m3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是私有的           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1383" y="57876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</a:pPr>
            <a:r>
              <a:rPr lang="zh-CN" altLang="en-US" dirty="0">
                <a:latin typeface="Tahoma" pitchFamily="34" charset="0"/>
              </a:rPr>
              <a:t>* 子类类体中可以访问从父类继承来的</a:t>
            </a:r>
            <a:r>
              <a:rPr lang="en-US" altLang="zh-CN" dirty="0">
                <a:latin typeface="Tahoma" pitchFamily="34" charset="0"/>
              </a:rPr>
              <a:t>protected</a:t>
            </a:r>
            <a:r>
              <a:rPr lang="zh-CN" altLang="en-US" dirty="0">
                <a:latin typeface="Tahoma" pitchFamily="34" charset="0"/>
              </a:rPr>
              <a:t>成员</a:t>
            </a:r>
            <a:r>
              <a:rPr lang="en-US" altLang="zh-CN" dirty="0">
                <a:latin typeface="Tahoma" pitchFamily="34" charset="0"/>
              </a:rPr>
              <a:t> </a:t>
            </a:r>
            <a:r>
              <a:rPr lang="zh-CN" altLang="en-US" dirty="0">
                <a:latin typeface="Tahoma" pitchFamily="34" charset="0"/>
              </a:rPr>
              <a:t>。但如果子类和父类不在同一个包里，子类里不能访问另外父类实例（非继承）的</a:t>
            </a:r>
            <a:r>
              <a:rPr lang="en-US" altLang="zh-CN" dirty="0">
                <a:latin typeface="Tahoma" pitchFamily="34" charset="0"/>
              </a:rPr>
              <a:t>protected</a:t>
            </a:r>
            <a:r>
              <a:rPr lang="zh-CN" altLang="en-US" dirty="0">
                <a:latin typeface="Tahoma" pitchFamily="34" charset="0"/>
              </a:rPr>
              <a:t>成员。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6F3A83-7A23-42DE-9A9E-08DB0D71DEE5}"/>
              </a:ext>
            </a:extLst>
          </p:cNvPr>
          <p:cNvSpPr txBox="1"/>
          <p:nvPr/>
        </p:nvSpPr>
        <p:spPr>
          <a:xfrm>
            <a:off x="250824" y="111005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</a:p>
        </p:txBody>
      </p:sp>
    </p:spTree>
    <p:extLst>
      <p:ext uri="{BB962C8B-B14F-4D97-AF65-F5344CB8AC3E}">
        <p14:creationId xmlns:p14="http://schemas.microsoft.com/office/powerpoint/2010/main" val="3935603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</a:p>
        </p:txBody>
      </p:sp>
      <p:sp>
        <p:nvSpPr>
          <p:cNvPr id="6" name="矩形 5"/>
          <p:cNvSpPr/>
          <p:nvPr/>
        </p:nvSpPr>
        <p:spPr>
          <a:xfrm>
            <a:off x="6096000" y="129472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</a:pPr>
            <a:r>
              <a:rPr lang="zh-CN" altLang="en-US" dirty="0">
                <a:latin typeface="Tahoma" pitchFamily="34" charset="0"/>
              </a:rPr>
              <a:t>* 子类类体中可以访问从父类继承来的</a:t>
            </a:r>
            <a:r>
              <a:rPr lang="en-US" altLang="zh-CN" dirty="0">
                <a:latin typeface="Tahoma" pitchFamily="34" charset="0"/>
              </a:rPr>
              <a:t>protected</a:t>
            </a:r>
            <a:r>
              <a:rPr lang="zh-CN" altLang="en-US" dirty="0">
                <a:latin typeface="Tahoma" pitchFamily="34" charset="0"/>
              </a:rPr>
              <a:t>成员</a:t>
            </a:r>
            <a:r>
              <a:rPr lang="en-US" altLang="zh-CN" dirty="0">
                <a:latin typeface="Tahoma" pitchFamily="34" charset="0"/>
              </a:rPr>
              <a:t> </a:t>
            </a:r>
            <a:r>
              <a:rPr lang="zh-CN" altLang="en-US" dirty="0">
                <a:latin typeface="Tahoma" pitchFamily="34" charset="0"/>
              </a:rPr>
              <a:t>。但如果子类和父类不在同一个包里，子类里不能访问另外父类实例（非继承）的</a:t>
            </a:r>
            <a:r>
              <a:rPr lang="en-US" altLang="zh-CN" dirty="0">
                <a:latin typeface="Tahoma" pitchFamily="34" charset="0"/>
              </a:rPr>
              <a:t>protected</a:t>
            </a:r>
            <a:r>
              <a:rPr lang="zh-CN" altLang="en-US" dirty="0">
                <a:latin typeface="Tahoma" pitchFamily="34" charset="0"/>
              </a:rPr>
              <a:t>成员。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6F3A83-7A23-42DE-9A9E-08DB0D71DEE5}"/>
              </a:ext>
            </a:extLst>
          </p:cNvPr>
          <p:cNvSpPr txBox="1"/>
          <p:nvPr/>
        </p:nvSpPr>
        <p:spPr>
          <a:xfrm>
            <a:off x="250824" y="111005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类的成员访问控制符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D502EC-A06D-43CC-AD1C-E9F26110B58A}"/>
              </a:ext>
            </a:extLst>
          </p:cNvPr>
          <p:cNvSpPr/>
          <p:nvPr/>
        </p:nvSpPr>
        <p:spPr>
          <a:xfrm>
            <a:off x="367990" y="1575607"/>
            <a:ext cx="3531348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A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i= 0;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B34734-6281-4CF9-A2C9-01DD3DF34E94}"/>
              </a:ext>
            </a:extLst>
          </p:cNvPr>
          <p:cNvSpPr/>
          <p:nvPr/>
        </p:nvSpPr>
        <p:spPr>
          <a:xfrm>
            <a:off x="367990" y="2652825"/>
            <a:ext cx="3531348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</a:t>
            </a:r>
            <a:r>
              <a:rPr lang="en-US" alt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B extends A {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j= 0;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565AC7-83FF-48F3-ACD7-42EE84CF3A4C}"/>
              </a:ext>
            </a:extLst>
          </p:cNvPr>
          <p:cNvSpPr/>
          <p:nvPr/>
        </p:nvSpPr>
        <p:spPr>
          <a:xfrm>
            <a:off x="367990" y="3951890"/>
            <a:ext cx="3531348" cy="196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25E054-AAE4-4A3D-A97D-BB9A11A50931}"/>
              </a:ext>
            </a:extLst>
          </p:cNvPr>
          <p:cNvSpPr/>
          <p:nvPr/>
        </p:nvSpPr>
        <p:spPr>
          <a:xfrm>
            <a:off x="367990" y="3951890"/>
            <a:ext cx="3531348" cy="10247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i= 0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71E2DE-89DF-4AEB-9FEF-822182E280CB}"/>
              </a:ext>
            </a:extLst>
          </p:cNvPr>
          <p:cNvSpPr/>
          <p:nvPr/>
        </p:nvSpPr>
        <p:spPr>
          <a:xfrm>
            <a:off x="1489898" y="5208821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 j= 0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EB49250F-7F48-4E91-8095-D6EDF0F93034}"/>
              </a:ext>
            </a:extLst>
          </p:cNvPr>
          <p:cNvSpPr/>
          <p:nvPr/>
        </p:nvSpPr>
        <p:spPr>
          <a:xfrm>
            <a:off x="5071242" y="4830017"/>
            <a:ext cx="6802764" cy="1965435"/>
          </a:xfrm>
          <a:prstGeom prst="wedgeRoundRectCallout">
            <a:avLst>
              <a:gd name="adj1" fmla="val -58370"/>
              <a:gd name="adj2" fmla="val -45537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 o1 = new B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（）；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类对象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o1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的内存布局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包括二部分：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    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从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继承的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i(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浅绿色部分，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字节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    自己的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j (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粉红色部分，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4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字节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在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的函数里，可以通过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super.i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访问到从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继承的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（因为</a:t>
            </a:r>
            <a:r>
              <a:rPr lang="en-US" altLang="zh-CN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super.i</a:t>
            </a:r>
            <a:r>
              <a:rPr lang="zh-CN" altLang="en-US" sz="1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是自己的内存布局一部分）。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但是在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的函数里，不能访问另外的对象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other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i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，因为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other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对象和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this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对象是不同内存，除非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和</a:t>
            </a:r>
            <a:r>
              <a:rPr lang="en-US" altLang="zh-CN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A</a:t>
            </a:r>
            <a:r>
              <a:rPr lang="zh-CN" altLang="en-US" sz="1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在一个包里</a:t>
            </a:r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B7603883-0C86-4CCB-B224-AC7D0593F369}"/>
              </a:ext>
            </a:extLst>
          </p:cNvPr>
          <p:cNvSpPr/>
          <p:nvPr/>
        </p:nvSpPr>
        <p:spPr>
          <a:xfrm rot="10800000">
            <a:off x="3899338" y="3993931"/>
            <a:ext cx="775067" cy="19654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101D4A-934F-46B6-B677-1AE3CAEAA005}"/>
              </a:ext>
            </a:extLst>
          </p:cNvPr>
          <p:cNvSpPr/>
          <p:nvPr/>
        </p:nvSpPr>
        <p:spPr>
          <a:xfrm>
            <a:off x="8527452" y="2652825"/>
            <a:ext cx="3531348" cy="196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D2603C-2EFD-4F97-8172-0CE34BB33B57}"/>
              </a:ext>
            </a:extLst>
          </p:cNvPr>
          <p:cNvSpPr/>
          <p:nvPr/>
        </p:nvSpPr>
        <p:spPr>
          <a:xfrm>
            <a:off x="8527452" y="2652825"/>
            <a:ext cx="3531348" cy="10247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i= 0</a:t>
            </a:r>
            <a:endParaRPr lang="zh-CN" alt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17930C-EB26-4A06-8B1F-AE8722203452}"/>
              </a:ext>
            </a:extLst>
          </p:cNvPr>
          <p:cNvSpPr/>
          <p:nvPr/>
        </p:nvSpPr>
        <p:spPr>
          <a:xfrm>
            <a:off x="9649360" y="3909756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 j= 0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6AFD8FD6-635A-4A4C-B426-188BCDC765C6}"/>
              </a:ext>
            </a:extLst>
          </p:cNvPr>
          <p:cNvSpPr/>
          <p:nvPr/>
        </p:nvSpPr>
        <p:spPr>
          <a:xfrm>
            <a:off x="7662002" y="2652824"/>
            <a:ext cx="775067" cy="19654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F3F99711-4133-4C94-96CA-B16987B7A6C4}"/>
              </a:ext>
            </a:extLst>
          </p:cNvPr>
          <p:cNvSpPr/>
          <p:nvPr/>
        </p:nvSpPr>
        <p:spPr>
          <a:xfrm>
            <a:off x="5071242" y="2919203"/>
            <a:ext cx="2885090" cy="449363"/>
          </a:xfrm>
          <a:prstGeom prst="wedgeRoundRectCallout">
            <a:avLst>
              <a:gd name="adj1" fmla="val 42899"/>
              <a:gd name="adj2" fmla="val 103664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类的另外一个对象</a:t>
            </a: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other</a:t>
            </a: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Courier New" panose="02070309020205020404" pitchFamily="49" charset="0"/>
              </a:rPr>
              <a:t>的内存布局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864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可见性行修饰符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50825" y="1897333"/>
            <a:ext cx="8686800" cy="2062163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p1;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41313" y="2303733"/>
            <a:ext cx="2616200" cy="156845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无访问修饰符，只能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在同一包内被访问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class C1{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…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625850" y="2289446"/>
            <a:ext cx="2790825" cy="1570037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ublic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class C2{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可访问同一包的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  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C1 c; //OK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96863" y="4237308"/>
            <a:ext cx="8686800" cy="23018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p2;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31800" y="4604021"/>
            <a:ext cx="5310188" cy="156845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 class C3{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不可访问包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中的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C1 c; //error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可访问包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ackage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600" kern="0" dirty="0">
                <a:solidFill>
                  <a:srgbClr val="000000"/>
                </a:solidFill>
              </a:rPr>
              <a:t>p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中的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C2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）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C2 c; //OK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	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9E143D-2DFC-47A0-BAF1-425A1AFC2D31}"/>
              </a:ext>
            </a:extLst>
          </p:cNvPr>
          <p:cNvSpPr txBox="1"/>
          <p:nvPr/>
        </p:nvSpPr>
        <p:spPr>
          <a:xfrm>
            <a:off x="347607" y="1324801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类的访问控制符</a:t>
            </a:r>
          </a:p>
        </p:txBody>
      </p:sp>
    </p:spTree>
    <p:extLst>
      <p:ext uri="{BB962C8B-B14F-4D97-AF65-F5344CB8AC3E}">
        <p14:creationId xmlns:p14="http://schemas.microsoft.com/office/powerpoint/2010/main" val="1336911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可见性修饰符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1312" y="1632263"/>
            <a:ext cx="9500777" cy="255454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 class Foo{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private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boolean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x;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void m(){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Foo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new Foo();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因为对象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类内使用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，所以可以访问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的私有成员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x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，并不是只能访问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this</a:t>
            </a:r>
            <a:r>
              <a:rPr lang="en-US" altLang="zh-CN" sz="1600" kern="0" dirty="0">
                <a:solidFill>
                  <a:srgbClr val="000000"/>
                </a:solidFill>
              </a:rPr>
              <a:t>.x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boolean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b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//ok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 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87350" y="4205863"/>
            <a:ext cx="9454739" cy="2057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algn="l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public class Test{ 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public static void main(String[]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args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){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Foo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= new Foo();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因为对象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在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类外使用，所以不可以访问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的私有成员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x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  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boolean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b = 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foo.x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//error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   }   </a:t>
            </a:r>
          </a:p>
          <a:p>
            <a:pPr marL="0" marR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320850" y="1198801"/>
            <a:ext cx="5444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访问控制针对的是类型而不是对象级别</a:t>
            </a:r>
          </a:p>
        </p:txBody>
      </p:sp>
    </p:spTree>
    <p:extLst>
      <p:ext uri="{BB962C8B-B14F-4D97-AF65-F5344CB8AC3E}">
        <p14:creationId xmlns:p14="http://schemas.microsoft.com/office/powerpoint/2010/main" val="3460518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9.6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可见性行修饰符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658310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大多数情况下，构造函数应该是公有的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有些特殊场合，可能会防止用户创建类的实例，这可以通过将构造函数声明为私有的来实现。</a:t>
            </a:r>
          </a:p>
          <a:p>
            <a:pPr marL="908050" marR="0" lvl="1" indent="-436563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例如，包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java.lang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中的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类的构造函数为私有的，所有的数据域和方法都是静态的，可以通过类名直接访问而</a:t>
            </a:r>
            <a:r>
              <a:rPr lang="zh-CN" altLang="en-US" sz="2400" kern="0" dirty="0">
                <a:solidFill>
                  <a:srgbClr val="000000"/>
                </a:solidFill>
                <a:ea typeface="宋体"/>
              </a:rPr>
              <a:t>不能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实例化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对象。</a:t>
            </a:r>
          </a:p>
          <a:p>
            <a:pPr marL="908050" marR="0" lvl="1" indent="-436563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private Math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（）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{   }</a:t>
            </a:r>
          </a:p>
          <a:p>
            <a:pPr marL="908050" marR="0" lvl="1" indent="-4365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935603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9.7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类成员变量的作用域和访问优先级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10695994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类的成员变量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实例变量和静态变量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的作用域是整个类，与声明的位置无关。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如果一个成员变量的初始化依赖于另一个变量，则另一个变量必须在前面声明。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public class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Foo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{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int i;//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成员变量默认初始化，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new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后成员默认值为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0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或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null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，函数局部变量须初始化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int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j =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+ 1;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  </a:t>
            </a:r>
            <a:r>
              <a:rPr kumimoji="0" lang="en-US" altLang="zh-CN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int f( ){ int i=0; return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i+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this.i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; } 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//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局部变量</a:t>
            </a:r>
            <a:r>
              <a:rPr lang="en-US" altLang="zh-CN" sz="2000" kern="0" dirty="0">
                <a:solidFill>
                  <a:srgbClr val="000000"/>
                </a:solidFill>
                <a:ea typeface="宋体"/>
              </a:rPr>
              <a:t>i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会优先访问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}   //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作用域越小，被访问的优先级越高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如函数的局部变量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与类的成员变量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名称相同，那么优先访问局部变量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，成员变量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被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隐藏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可用</a:t>
            </a:r>
            <a:r>
              <a:rPr kumimoji="0" lang="en-US" altLang="zh-CN" sz="25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this.i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或类名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.i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发现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。</a:t>
            </a:r>
            <a:endParaRPr kumimoji="0" lang="en-US" altLang="zh-CN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438150" lvl="1" indent="0" eaLnBrk="1" hangingPunct="1">
              <a:buClr>
                <a:srgbClr val="CC0000"/>
              </a:buClr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嵌套作用域不能定义同名的局部变量；但类的成员变量可以和类的方法里的局部变量同名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6047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"/>
          <p:cNvSpPr>
            <a:spLocks noGrp="1"/>
          </p:cNvSpPr>
          <p:nvPr>
            <p:ph type="body" sz="quarter" idx="10"/>
          </p:nvPr>
        </p:nvSpPr>
        <p:spPr bwMode="auto">
          <a:xfrm>
            <a:off x="237439" y="175846"/>
            <a:ext cx="1248461" cy="835269"/>
          </a:xfrm>
          <a:noFill/>
        </p:spPr>
        <p:txBody>
          <a:bodyPr vert="horz" wrap="square" lIns="91440" tIns="45720" rIns="91440" bIns="45720" numCol="1" anchor="t" anchorCtr="0" compatLnSpc="1">
            <a:normAutofit fontScale="95000"/>
          </a:bodyPr>
          <a:lstStyle/>
          <a:p>
            <a:pPr eaLnBrk="1" hangingPunct="1"/>
            <a:r>
              <a:rPr lang="en-US" altLang="zh-CN" dirty="0"/>
              <a:t>9.8</a:t>
            </a:r>
          </a:p>
        </p:txBody>
      </p:sp>
      <p:sp>
        <p:nvSpPr>
          <p:cNvPr id="11267" name="文本占位符 2"/>
          <p:cNvSpPr>
            <a:spLocks noGrp="1"/>
          </p:cNvSpPr>
          <p:nvPr>
            <p:ph type="body" sz="quarter" idx="12"/>
          </p:nvPr>
        </p:nvSpPr>
        <p:spPr bwMode="auto">
          <a:xfrm>
            <a:off x="1649291" y="224570"/>
            <a:ext cx="10270960" cy="496887"/>
          </a:xfrm>
          <a:noFill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defRPr/>
            </a:pPr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this</a:t>
            </a:r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引用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66738" y="1341438"/>
            <a:ext cx="983735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500">
                <a:solidFill>
                  <a:schemeClr val="tx1"/>
                </a:solidFill>
                <a:latin typeface="宋体" pitchFamily="2" charset="-122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宋体" pitchFamily="2" charset="-122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1900">
                <a:solidFill>
                  <a:schemeClr val="tx1"/>
                </a:solidFill>
                <a:latin typeface="宋体" pitchFamily="2" charset="-122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宋体" pitchFamily="2" charset="-122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this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引用</a:t>
            </a:r>
            <a:r>
              <a:rPr lang="zh-CN" altLang="en-US" sz="2000" kern="0" dirty="0">
                <a:solidFill>
                  <a:srgbClr val="000000"/>
                </a:solidFill>
                <a:ea typeface="宋体"/>
              </a:rPr>
              <a:t>指向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调用某个方法的当前对象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在实例方法中，实例变量被同名局部变量或方法形参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隐藏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，可以通过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this.instanceVariable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访问实例变量。</a:t>
            </a: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o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调用当前类的其它构造函数，需防止递归调用。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/>
              <a:cs typeface="+mn-cs"/>
            </a:endParaRP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this(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actualParameterList</a:t>
            </a:r>
            <a:r>
              <a:rPr kumimoji="0" lang="en-US" altLang="zh-CN" sz="20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opt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)</a:t>
            </a:r>
          </a:p>
          <a:p>
            <a:pPr marL="908050" marR="0" lvl="1" indent="-4365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必须是构造函数的第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条语句。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32675" y="3563938"/>
            <a:ext cx="7396163" cy="2536825"/>
            <a:chOff x="733425" y="3563938"/>
            <a:chExt cx="7396163" cy="2536825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733425" y="3563938"/>
              <a:ext cx="3389313" cy="2536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class Foo{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= 5;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static double k = 0.0;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void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setI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(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){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 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this.i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=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;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}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static void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setK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(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int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k){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   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Foo.k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= k;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   }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}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4513263" y="3592513"/>
              <a:ext cx="3389312" cy="132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 f1 =new Foo();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 f2 = new Foo();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f1.setI(10);//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这时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this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f1</a:t>
              </a:r>
            </a:p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f2.setI(45);//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这时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this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引用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f2</a:t>
              </a:r>
            </a:p>
          </p:txBody>
        </p:sp>
        <p:sp>
          <p:nvSpPr>
            <p:cNvPr id="7" name="TextBox 1"/>
            <p:cNvSpPr txBox="1">
              <a:spLocks noChangeArrowheads="1"/>
            </p:cNvSpPr>
            <p:nvPr/>
          </p:nvSpPr>
          <p:spPr bwMode="auto">
            <a:xfrm>
              <a:off x="4537075" y="5095875"/>
              <a:ext cx="3592513" cy="83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25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22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o"/>
                <a:defRPr sz="19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Font typeface="Wingdings" pitchFamily="2" charset="2"/>
                <a:buChar char="n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5000"/>
                </a:spcBef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说明：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成员变量</a:t>
              </a:r>
              <a:r>
                <a:rPr kumimoji="0" lang="en-US" altLang="zh-CN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i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、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k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的初始值可被构造函数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Foo( )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修改，但编译提供的默认构造函数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FOO( )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什么也没有做。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55887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6|1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5.7|18.9|28.4|16.9|31.7|27.4|14.1|2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6.4|12.7|28.3|48.4|0.6|0.9|2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8.1|1.6|9.6|114.2|4.3|15.5|1.9|5.1|0.4|0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8.4|8.9|17.1|1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7|29.1|46.5|12.9|71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7.3|20.4|17|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.9|10.1|39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.9|10.1|39.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0517C"/>
        </a:solid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6831</Words>
  <Application>Microsoft Office PowerPoint</Application>
  <PresentationFormat>宽屏</PresentationFormat>
  <Paragraphs>823</Paragraphs>
  <Slides>39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华文细黑</vt:lpstr>
      <vt:lpstr>华文新魏</vt:lpstr>
      <vt:lpstr>宋体</vt:lpstr>
      <vt:lpstr>微软雅黑</vt:lpstr>
      <vt:lpstr>Agency FB</vt:lpstr>
      <vt:lpstr>Arial</vt:lpstr>
      <vt:lpstr>Calibri</vt:lpstr>
      <vt:lpstr>Calibri Light</vt:lpstr>
      <vt:lpstr>Courier New</vt:lpstr>
      <vt:lpstr>Tahoma</vt:lpstr>
      <vt:lpstr>Verdana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lvxinqiao</dc:creator>
  <cp:lastModifiedBy>希武 辜</cp:lastModifiedBy>
  <cp:revision>299</cp:revision>
  <dcterms:created xsi:type="dcterms:W3CDTF">2018-01-23T14:33:00Z</dcterms:created>
  <dcterms:modified xsi:type="dcterms:W3CDTF">2026-03-26T13:31:57Z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